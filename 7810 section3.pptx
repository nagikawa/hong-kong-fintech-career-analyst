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6"/>
  </p:notesMasterIdLst>
  <p:sldIdLst>
    <p:sldId id="256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91" d="100"/>
          <a:sy n="91" d="100"/>
        </p:scale>
        <p:origin x="576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2537-368B-C08A-4F9B-F4BF5FA7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425991-6FFD-0181-C28A-CF06FA4E5E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DB796-A4BD-BC4F-AF7D-2AA673F024D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10BFBF0-DC2D-36F2-802A-8F9B0766C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2D7DE9B-A3DD-D07B-F15A-36966DE63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2DEBD-68F1-7BB4-F18A-A05208CD5E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75946-9F65-6122-DD52-0E44E4741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69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762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47A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BBDE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3492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preprocessing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NIE </a:t>
            </a: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</a:t>
            </a:r>
            <a:r>
              <a:rPr lang="en-US" altLang="zh-CN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unrong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(25428225)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BBDE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2800" y="25273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761999" y="508000"/>
            <a:ext cx="5973847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Data preprocessing</a:t>
            </a:r>
          </a:p>
        </p:txBody>
      </p:sp>
      <p:sp>
        <p:nvSpPr>
          <p:cNvPr id="5" name="AutoShape 5"/>
          <p:cNvSpPr/>
          <p:nvPr/>
        </p:nvSpPr>
        <p:spPr>
          <a:xfrm>
            <a:off x="761999" y="1193606"/>
            <a:ext cx="10668000" cy="9147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Unified processing of multiple files</a:t>
            </a: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: Automatically batch-read all CSV files, extract the industry/month from the file names, and merge them into a complete dataset.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1999" y="2369859"/>
            <a:ext cx="10668000" cy="684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▍</a:t>
            </a:r>
            <a:r>
              <a:rPr lang="en-US" sz="1800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Handling of missing values</a:t>
            </a: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: Missing salary indicators are marked as "Unknown" for categorical fields.</a:t>
            </a:r>
            <a:endParaRPr lang="en-US" sz="1800" b="1" dirty="0">
              <a:solidFill>
                <a:srgbClr val="0D47A1"/>
              </a:solidFill>
              <a:latin typeface="Noto Sans SC"/>
              <a:ea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8">
            <a:extLst>
              <a:ext uri="{FF2B5EF4-FFF2-40B4-BE49-F238E27FC236}">
                <a16:creationId xmlns:a16="http://schemas.microsoft.com/office/drawing/2014/main" id="{15617FC0-D4BB-E3AF-4A7A-A95C9821A8B0}"/>
              </a:ext>
            </a:extLst>
          </p:cNvPr>
          <p:cNvSpPr/>
          <p:nvPr/>
        </p:nvSpPr>
        <p:spPr>
          <a:xfrm>
            <a:off x="761999" y="3402387"/>
            <a:ext cx="10668000" cy="6840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▍ </a:t>
            </a:r>
            <a:r>
              <a:rPr lang="en-US" sz="1800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Uniform field format: </a:t>
            </a: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Convert dates to </a:t>
            </a:r>
            <a:r>
              <a:rPr lang="en-US" sz="1800" b="1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YYYY-MM-DD format, </a:t>
            </a: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standardize job titles, and unify industry labels</a:t>
            </a:r>
          </a:p>
        </p:txBody>
      </p:sp>
      <p:sp>
        <p:nvSpPr>
          <p:cNvPr id="7" name="AutoShape 18">
            <a:extLst>
              <a:ext uri="{FF2B5EF4-FFF2-40B4-BE49-F238E27FC236}">
                <a16:creationId xmlns:a16="http://schemas.microsoft.com/office/drawing/2014/main" id="{492742FC-A79E-6DD6-3954-6F55D4D49C44}"/>
              </a:ext>
            </a:extLst>
          </p:cNvPr>
          <p:cNvSpPr/>
          <p:nvPr/>
        </p:nvSpPr>
        <p:spPr>
          <a:xfrm>
            <a:off x="761999" y="4400695"/>
            <a:ext cx="10668000" cy="10343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▍ </a:t>
            </a:r>
            <a:r>
              <a:rPr lang="en-US" altLang="zh-CN" sz="1800" b="1" dirty="0">
                <a:solidFill>
                  <a:srgbClr val="FF0000"/>
                </a:solidFill>
                <a:latin typeface="Noto Sans SC"/>
                <a:ea typeface="Noto Sans SC"/>
                <a:sym typeface="Noto Sans SC"/>
              </a:rPr>
              <a:t>Salary field cleaning </a:t>
            </a:r>
            <a:r>
              <a:rPr lang="en-US" altLang="zh-CN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(range is directly calculated as the mean)Support formats: $20,000–$30,000, 45k-50k, 35000, Up to 23K  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800" b="1" dirty="0">
                <a:solidFill>
                  <a:srgbClr val="0D47A1"/>
                </a:solidFill>
                <a:latin typeface="Noto Sans SC"/>
                <a:ea typeface="Noto Sans SC"/>
                <a:sym typeface="Noto Sans SC"/>
              </a:rPr>
              <a:t>Rule: 45k-50k → Directly calculated as 47,500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AC4E-52E0-70E4-9680-CFE03BCB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0DA3CB-B425-0B8A-3A3E-8137460468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8465546B-4850-0625-ED6B-BFA937CBB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A915ACF-982A-5289-A514-CFD90C2B4BB1}"/>
              </a:ext>
            </a:extLst>
          </p:cNvPr>
          <p:cNvSpPr/>
          <p:nvPr/>
        </p:nvSpPr>
        <p:spPr>
          <a:xfrm>
            <a:off x="761999" y="508000"/>
            <a:ext cx="5973847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Data preprocessing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D9E4A2B9-5B54-2481-C5F8-8D5130B358ED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D47A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A0BDD630-32B1-7FB6-4CCD-C9C1FDF502C8}"/>
              </a:ext>
            </a:extLst>
          </p:cNvPr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▍</a:t>
            </a: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After</a:t>
            </a:r>
            <a:r>
              <a:rPr lang="en-US" sz="1800" b="1" i="0" u="none" strike="noStrike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 Data preprocessing</a:t>
            </a:r>
            <a:endParaRPr lang="en-US" sz="1100" dirty="0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400CC954-DC2C-8C20-771B-0B359C4FED14}"/>
              </a:ext>
            </a:extLst>
          </p:cNvPr>
          <p:cNvSpPr/>
          <p:nvPr/>
        </p:nvSpPr>
        <p:spPr>
          <a:xfrm>
            <a:off x="761999" y="1849644"/>
            <a:ext cx="3429000" cy="9779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7236093D-E7B3-7BB7-E1FC-12395BD24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499" y="2040144"/>
            <a:ext cx="406400" cy="406400"/>
          </a:xfrm>
          <a:prstGeom prst="rect">
            <a:avLst/>
          </a:prstGeom>
        </p:spPr>
      </p:pic>
      <p:sp>
        <p:nvSpPr>
          <p:cNvPr id="11" name="AutoShape 8">
            <a:extLst>
              <a:ext uri="{FF2B5EF4-FFF2-40B4-BE49-F238E27FC236}">
                <a16:creationId xmlns:a16="http://schemas.microsoft.com/office/drawing/2014/main" id="{D69F7169-F8D2-4DC9-A3D8-5B55AEAA93FE}"/>
              </a:ext>
            </a:extLst>
          </p:cNvPr>
          <p:cNvSpPr/>
          <p:nvPr/>
        </p:nvSpPr>
        <p:spPr>
          <a:xfrm>
            <a:off x="1460499" y="2014744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Number of documents</a:t>
            </a:r>
            <a:endParaRPr lang="en-US" sz="1100" dirty="0"/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2C058137-B948-385D-C9D4-7B5FBA6E1B5E}"/>
              </a:ext>
            </a:extLst>
          </p:cNvPr>
          <p:cNvSpPr/>
          <p:nvPr/>
        </p:nvSpPr>
        <p:spPr>
          <a:xfrm>
            <a:off x="952499" y="2421144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</a:rPr>
              <a:t>8 </a:t>
            </a:r>
            <a:r>
              <a:rPr lang="zh-CN" altLang="en-US" sz="1800" b="1" dirty="0">
                <a:solidFill>
                  <a:srgbClr val="0D47A1"/>
                </a:solidFill>
                <a:latin typeface="Noto Sans SC"/>
                <a:ea typeface="Noto Sans SC"/>
              </a:rPr>
              <a:t>→ </a:t>
            </a:r>
            <a:r>
              <a:rPr lang="en-US" altLang="zh-CN" sz="1800" b="1" dirty="0">
                <a:solidFill>
                  <a:srgbClr val="0D47A1"/>
                </a:solidFill>
                <a:latin typeface="Noto Sans SC"/>
                <a:ea typeface="Noto Sans SC"/>
              </a:rPr>
              <a:t>1</a:t>
            </a:r>
            <a:endParaRPr lang="en-US" sz="1800" b="1" dirty="0">
              <a:solidFill>
                <a:srgbClr val="0D47A1"/>
              </a:solidFill>
              <a:latin typeface="Noto Sans SC"/>
              <a:ea typeface="Noto Sans SC"/>
            </a:endParaRPr>
          </a:p>
        </p:txBody>
      </p:sp>
      <p:sp>
        <p:nvSpPr>
          <p:cNvPr id="22" name="AutoShape 6">
            <a:extLst>
              <a:ext uri="{FF2B5EF4-FFF2-40B4-BE49-F238E27FC236}">
                <a16:creationId xmlns:a16="http://schemas.microsoft.com/office/drawing/2014/main" id="{F1AABDC6-D29C-4196-3EAF-8E4D6CFF46DD}"/>
              </a:ext>
            </a:extLst>
          </p:cNvPr>
          <p:cNvSpPr/>
          <p:nvPr/>
        </p:nvSpPr>
        <p:spPr>
          <a:xfrm>
            <a:off x="761999" y="3139178"/>
            <a:ext cx="3429000" cy="9779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B677F175-0888-13D8-D64B-9B9551073A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499" y="3329678"/>
            <a:ext cx="406400" cy="406400"/>
          </a:xfrm>
          <a:prstGeom prst="rect">
            <a:avLst/>
          </a:prstGeom>
        </p:spPr>
      </p:pic>
      <p:sp>
        <p:nvSpPr>
          <p:cNvPr id="24" name="AutoShape 8">
            <a:extLst>
              <a:ext uri="{FF2B5EF4-FFF2-40B4-BE49-F238E27FC236}">
                <a16:creationId xmlns:a16="http://schemas.microsoft.com/office/drawing/2014/main" id="{FA612246-A179-BD45-AEBF-2B3FB0F5305F}"/>
              </a:ext>
            </a:extLst>
          </p:cNvPr>
          <p:cNvSpPr/>
          <p:nvPr/>
        </p:nvSpPr>
        <p:spPr>
          <a:xfrm>
            <a:off x="1460499" y="3304278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Total data volume</a:t>
            </a:r>
            <a:endParaRPr lang="en-US" sz="1100" dirty="0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C28E3CC4-3C30-DFD4-EFDE-4A6B8E22141A}"/>
              </a:ext>
            </a:extLst>
          </p:cNvPr>
          <p:cNvSpPr/>
          <p:nvPr/>
        </p:nvSpPr>
        <p:spPr>
          <a:xfrm>
            <a:off x="952499" y="3659878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</a:rPr>
              <a:t>29,092</a:t>
            </a:r>
          </a:p>
        </p:txBody>
      </p:sp>
      <p:sp>
        <p:nvSpPr>
          <p:cNvPr id="26" name="AutoShape 6">
            <a:extLst>
              <a:ext uri="{FF2B5EF4-FFF2-40B4-BE49-F238E27FC236}">
                <a16:creationId xmlns:a16="http://schemas.microsoft.com/office/drawing/2014/main" id="{A7C1CE23-B7EC-6A83-F57F-FC184D1E4462}"/>
              </a:ext>
            </a:extLst>
          </p:cNvPr>
          <p:cNvSpPr/>
          <p:nvPr/>
        </p:nvSpPr>
        <p:spPr>
          <a:xfrm>
            <a:off x="761999" y="4447278"/>
            <a:ext cx="3429000" cy="9779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D47A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7">
            <a:extLst>
              <a:ext uri="{FF2B5EF4-FFF2-40B4-BE49-F238E27FC236}">
                <a16:creationId xmlns:a16="http://schemas.microsoft.com/office/drawing/2014/main" id="{203054ED-0812-5295-F7C7-913AFA7A3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499" y="4637778"/>
            <a:ext cx="406400" cy="406400"/>
          </a:xfrm>
          <a:prstGeom prst="rect">
            <a:avLst/>
          </a:prstGeom>
        </p:spPr>
      </p:pic>
      <p:sp>
        <p:nvSpPr>
          <p:cNvPr id="28" name="AutoShape 8">
            <a:extLst>
              <a:ext uri="{FF2B5EF4-FFF2-40B4-BE49-F238E27FC236}">
                <a16:creationId xmlns:a16="http://schemas.microsoft.com/office/drawing/2014/main" id="{8630CAEB-8ED9-C31E-57A1-60734DA3E2E3}"/>
              </a:ext>
            </a:extLst>
          </p:cNvPr>
          <p:cNvSpPr/>
          <p:nvPr/>
        </p:nvSpPr>
        <p:spPr>
          <a:xfrm>
            <a:off x="1460499" y="4612378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00" b="1" dirty="0">
                <a:solidFill>
                  <a:srgbClr val="0D47A1"/>
                </a:solidFill>
                <a:latin typeface="Noto Sans SC"/>
                <a:ea typeface="Noto Sans SC"/>
                <a:cs typeface="Noto Sans SC"/>
                <a:sym typeface="Noto Sans SC"/>
              </a:rPr>
              <a:t>Effective salary</a:t>
            </a:r>
            <a:endParaRPr lang="en-US" sz="1100" dirty="0"/>
          </a:p>
        </p:txBody>
      </p:sp>
      <p:sp>
        <p:nvSpPr>
          <p:cNvPr id="29" name="AutoShape 9">
            <a:extLst>
              <a:ext uri="{FF2B5EF4-FFF2-40B4-BE49-F238E27FC236}">
                <a16:creationId xmlns:a16="http://schemas.microsoft.com/office/drawing/2014/main" id="{C5875B6F-2481-811D-E138-1121FC4BB719}"/>
              </a:ext>
            </a:extLst>
          </p:cNvPr>
          <p:cNvSpPr/>
          <p:nvPr/>
        </p:nvSpPr>
        <p:spPr>
          <a:xfrm>
            <a:off x="952499" y="4967978"/>
            <a:ext cx="304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sz="1800" b="1" dirty="0">
                <a:solidFill>
                  <a:srgbClr val="0D47A1"/>
                </a:solidFill>
                <a:latin typeface="Noto Sans SC"/>
                <a:ea typeface="Noto Sans SC"/>
              </a:rPr>
              <a:t>4,316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094D89A-C857-7690-31F3-394D042DC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031" y="1340795"/>
            <a:ext cx="7470944" cy="479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180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140</Words>
  <Application>Microsoft Office PowerPoint</Application>
  <PresentationFormat>宽屏</PresentationFormat>
  <Paragraphs>22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 White</dc:creator>
  <cp:lastModifiedBy>CC White</cp:lastModifiedBy>
  <cp:revision>10</cp:revision>
  <dcterms:created xsi:type="dcterms:W3CDTF">2026-03-18T12:15:36Z</dcterms:created>
  <dcterms:modified xsi:type="dcterms:W3CDTF">2026-03-31T16:54:04Z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132937552A5D6EF76897BA691B1F8F4C_43</vt:lpwstr>
  </property>
  <property fmtid="{D5CDD505-2E9C-101B-9397-08002B2CF9AE}" pid="3" name="KSOProductBuildVer">
    <vt:lpwstr>2052-7.2.2.8955</vt:lpwstr>
  </property>
</Properties>
</file>