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8C5B9-6CF6-4163-971B-09EF9E4E1724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66F7A-F0B0-4938-9C4E-0905580E76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194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14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2026/4/15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762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47A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BBDE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492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Results and Discussion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CEN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</a:t>
            </a:r>
            <a:r>
              <a:rPr lang="en-US" altLang="zh-CN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ingyu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(25438360)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BBDE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25273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-1624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345140" y="26957"/>
            <a:ext cx="5973847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Insights</a:t>
            </a:r>
          </a:p>
        </p:txBody>
      </p:sp>
      <p:sp>
        <p:nvSpPr>
          <p:cNvPr id="5" name="AutoShape 5"/>
          <p:cNvSpPr/>
          <p:nvPr/>
        </p:nvSpPr>
        <p:spPr>
          <a:xfrm>
            <a:off x="761999" y="1193606"/>
            <a:ext cx="10668000" cy="9147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1999" y="2369859"/>
            <a:ext cx="10668000" cy="684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800" b="1" dirty="0">
              <a:solidFill>
                <a:srgbClr val="0D47A1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8">
            <a:extLst>
              <a:ext uri="{FF2B5EF4-FFF2-40B4-BE49-F238E27FC236}">
                <a16:creationId xmlns:a16="http://schemas.microsoft.com/office/drawing/2014/main" id="{15617FC0-D4BB-E3AF-4A7A-A95C9821A8B0}"/>
              </a:ext>
            </a:extLst>
          </p:cNvPr>
          <p:cNvSpPr/>
          <p:nvPr/>
        </p:nvSpPr>
        <p:spPr>
          <a:xfrm>
            <a:off x="761999" y="3402387"/>
            <a:ext cx="10668000" cy="684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800" b="1" dirty="0">
              <a:solidFill>
                <a:srgbClr val="0D47A1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7" name="AutoShape 18">
            <a:extLst>
              <a:ext uri="{FF2B5EF4-FFF2-40B4-BE49-F238E27FC236}">
                <a16:creationId xmlns:a16="http://schemas.microsoft.com/office/drawing/2014/main" id="{492742FC-A79E-6DD6-3954-6F55D4D49C44}"/>
              </a:ext>
            </a:extLst>
          </p:cNvPr>
          <p:cNvSpPr/>
          <p:nvPr/>
        </p:nvSpPr>
        <p:spPr>
          <a:xfrm>
            <a:off x="761999" y="4400695"/>
            <a:ext cx="10668000" cy="10343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altLang="zh-CN" sz="1800" b="1" dirty="0">
              <a:solidFill>
                <a:srgbClr val="0D47A1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1F092A-8CF1-06FA-0DFD-B8CB54FC80B6}"/>
              </a:ext>
            </a:extLst>
          </p:cNvPr>
          <p:cNvSpPr/>
          <p:nvPr/>
        </p:nvSpPr>
        <p:spPr>
          <a:xfrm>
            <a:off x="6163231" y="738179"/>
            <a:ext cx="6028767" cy="28656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zh-CN" b="1" dirty="0">
                <a:solidFill>
                  <a:srgbClr val="002060"/>
                </a:solidFill>
                <a:latin typeface="Noto Sans SC"/>
                <a:ea typeface="Noto Sans SC"/>
                <a:cs typeface="Arial" panose="020B0604020202090204"/>
              </a:rPr>
              <a:t>2. Geography: Prestige vs. Decentralization</a:t>
            </a:r>
          </a:p>
          <a:p>
            <a:pPr fontAlgn="base"/>
            <a:endParaRPr lang="zh-CN" altLang="en-US" b="1" dirty="0">
              <a:solidFill>
                <a:srgbClr val="0D47A1"/>
              </a:solidFill>
              <a:latin typeface="Noto Sans SC"/>
              <a:ea typeface="Noto Sans SC"/>
              <a:cs typeface="Arial" panose="020B0604020202090204"/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Finance (Centralized):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Anchored in premium CBDs (e.g., Central) for client proximity.</a:t>
            </a:r>
          </a:p>
          <a:p>
            <a:pPr fontAlgn="base"/>
            <a:endParaRPr lang="en-US" altLang="zh-CN" b="1" dirty="0">
              <a:solidFill>
                <a:srgbClr val="0D47A1"/>
              </a:solidFill>
              <a:latin typeface="Noto Sans SC"/>
              <a:ea typeface="Noto Sans SC"/>
              <a:cs typeface="Arial" panose="020B0604020202090204"/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IT (Decentralized):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Spreading to tech hubs (e.g., [Kwun Tong]) for cost efficiency.</a:t>
            </a:r>
          </a:p>
          <a:p>
            <a:pPr algn="ctr"/>
            <a:endParaRPr lang="zh-CN" alt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782855-999A-9211-8B7C-E9E204FE3217}"/>
              </a:ext>
            </a:extLst>
          </p:cNvPr>
          <p:cNvSpPr/>
          <p:nvPr/>
        </p:nvSpPr>
        <p:spPr>
          <a:xfrm>
            <a:off x="0" y="763167"/>
            <a:ext cx="6028767" cy="28656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zh-CN" b="1" dirty="0">
                <a:solidFill>
                  <a:srgbClr val="002060"/>
                </a:solidFill>
                <a:latin typeface="Noto Sans SC"/>
                <a:ea typeface="Noto Sans SC"/>
                <a:cs typeface="Arial" panose="020B0604020202090204"/>
              </a:rPr>
              <a:t>1.Salary: "Selective Transparency" </a:t>
            </a: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Nearly 80% Undisclosed: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Market strongly favors a "Negotiable" culture.</a:t>
            </a:r>
          </a:p>
          <a:p>
            <a:pPr fontAlgn="base"/>
            <a:endParaRPr lang="en-US" altLang="zh-CN" b="1" dirty="0">
              <a:solidFill>
                <a:srgbClr val="0D47A1"/>
              </a:solidFill>
              <a:latin typeface="Noto Sans SC"/>
              <a:ea typeface="Noto Sans SC"/>
              <a:cs typeface="Arial" panose="020B0604020202090204"/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Sector Gap: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Finance 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  <a:sym typeface="Arial" panose="020B0604020202090204"/>
              </a:rPr>
              <a:t>holds a higher ceiling; IT offers 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a stable median.</a:t>
            </a:r>
          </a:p>
          <a:p>
            <a:pPr fontAlgn="base"/>
            <a:endParaRPr lang="en-US" altLang="zh-CN" b="1" dirty="0">
              <a:solidFill>
                <a:srgbClr val="0D47A1"/>
              </a:solidFill>
              <a:latin typeface="Noto Sans SC"/>
              <a:ea typeface="Noto Sans SC"/>
              <a:cs typeface="Arial" panose="020B0604020202090204"/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Implication: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High-end roles hide pay to protect bargaining power.</a:t>
            </a:r>
          </a:p>
          <a:p>
            <a:pPr algn="ctr"/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D61120-DA84-0E9F-FDD8-226F1286497C}"/>
              </a:ext>
            </a:extLst>
          </p:cNvPr>
          <p:cNvSpPr/>
          <p:nvPr/>
        </p:nvSpPr>
        <p:spPr>
          <a:xfrm>
            <a:off x="6163233" y="3730010"/>
            <a:ext cx="6028767" cy="28003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endParaRPr lang="en-US" altLang="zh-CN" b="1" dirty="0">
              <a:solidFill>
                <a:srgbClr val="0D47A1"/>
              </a:solidFill>
              <a:latin typeface="Noto Sans SC"/>
              <a:ea typeface="Noto Sans SC"/>
              <a:cs typeface="Arial" panose="020B060402020209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D56A3-D898-2C24-8870-AFAC8771E5E9}"/>
              </a:ext>
            </a:extLst>
          </p:cNvPr>
          <p:cNvSpPr txBox="1"/>
          <p:nvPr/>
        </p:nvSpPr>
        <p:spPr>
          <a:xfrm>
            <a:off x="6454584" y="4102683"/>
            <a:ext cx="54460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b="1" dirty="0">
                <a:solidFill>
                  <a:srgbClr val="002060"/>
                </a:solidFill>
                <a:latin typeface="Noto Sans SC"/>
                <a:ea typeface="Noto Sans SC"/>
                <a:cs typeface="Arial" panose="020B0604020202090204"/>
              </a:rPr>
              <a:t>4. Skill Convergence: Rise of FinTech</a:t>
            </a: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Blurring Boundaries: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High demand for cross-disciplinary talents.</a:t>
            </a:r>
          </a:p>
          <a:p>
            <a:pPr fontAlgn="base"/>
            <a:endParaRPr lang="en-US" altLang="zh-CN" b="1" dirty="0">
              <a:solidFill>
                <a:srgbClr val="0D47A1"/>
              </a:solidFill>
              <a:latin typeface="Noto Sans SC"/>
              <a:ea typeface="Noto Sans SC"/>
              <a:cs typeface="Arial" panose="020B0604020202090204"/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Hot Roles: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[Data Analytics / AI / Risk] dominate both sectors' top lists.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75A19D-689A-A370-CF5C-15CC034CD861}"/>
              </a:ext>
            </a:extLst>
          </p:cNvPr>
          <p:cNvSpPr/>
          <p:nvPr/>
        </p:nvSpPr>
        <p:spPr>
          <a:xfrm>
            <a:off x="0" y="3730010"/>
            <a:ext cx="6028767" cy="28003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zh-CN" b="1" dirty="0">
                <a:solidFill>
                  <a:srgbClr val="002060"/>
                </a:solidFill>
                <a:latin typeface="Noto Sans SC"/>
                <a:ea typeface="Noto Sans SC"/>
                <a:cs typeface="Arial" panose="020B0604020202090204"/>
              </a:rPr>
              <a:t>3. Timing: Stability &gt; Gig Economy </a:t>
            </a:r>
            <a:endParaRPr lang="zh-CN" altLang="en-US" b="1" dirty="0">
              <a:solidFill>
                <a:srgbClr val="002060"/>
              </a:solidFill>
              <a:latin typeface="Noto Sans SC"/>
              <a:ea typeface="Noto Sans SC"/>
              <a:cs typeface="Arial" panose="020B0604020202090204"/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"Post-Bonus" Surge: 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Job postings peaked steadily towards [Jan/Feb].</a:t>
            </a:r>
          </a:p>
          <a:p>
            <a:pPr fontAlgn="base"/>
            <a:endParaRPr lang="en-US" altLang="zh-CN" b="1" dirty="0">
              <a:solidFill>
                <a:srgbClr val="0D47A1"/>
              </a:solidFill>
              <a:latin typeface="Noto Sans SC"/>
              <a:ea typeface="Noto Sans SC"/>
              <a:cs typeface="Arial" panose="020B0604020202090204"/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Traditional Hiring: 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Arial" panose="020B0604020202090204"/>
              </a:rPr>
              <a:t>Over</a:t>
            </a:r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Arial" panose="020B0604020202090204"/>
              </a:rPr>
              <a:t> </a:t>
            </a:r>
            <a:r>
              <a:rPr lang="en-US" altLang="zh-CN" b="1" dirty="0">
                <a:solidFill>
                  <a:srgbClr val="0D47A1"/>
                </a:solidFill>
                <a:latin typeface="Noto Sans SC"/>
                <a:ea typeface="Noto Sans SC"/>
                <a:cs typeface="Arial" panose="020B0604020202090204"/>
              </a:rPr>
              <a:t>90% full-time rate proves core industries prioritize long-term loyalty over temp/contract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358587" y="107211"/>
            <a:ext cx="6902825" cy="6081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Recommendations &amp; Limitations)</a:t>
            </a:r>
          </a:p>
        </p:txBody>
      </p:sp>
      <p:sp>
        <p:nvSpPr>
          <p:cNvPr id="5" name="AutoShape 5"/>
          <p:cNvSpPr/>
          <p:nvPr/>
        </p:nvSpPr>
        <p:spPr>
          <a:xfrm>
            <a:off x="761999" y="1193606"/>
            <a:ext cx="10668000" cy="9147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1999" y="2369859"/>
            <a:ext cx="10668000" cy="684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800" b="1" dirty="0">
              <a:solidFill>
                <a:srgbClr val="0D47A1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8">
            <a:extLst>
              <a:ext uri="{FF2B5EF4-FFF2-40B4-BE49-F238E27FC236}">
                <a16:creationId xmlns:a16="http://schemas.microsoft.com/office/drawing/2014/main" id="{15617FC0-D4BB-E3AF-4A7A-A95C9821A8B0}"/>
              </a:ext>
            </a:extLst>
          </p:cNvPr>
          <p:cNvSpPr/>
          <p:nvPr/>
        </p:nvSpPr>
        <p:spPr>
          <a:xfrm>
            <a:off x="761999" y="3402387"/>
            <a:ext cx="10668000" cy="684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800" b="1" dirty="0">
              <a:solidFill>
                <a:srgbClr val="0D47A1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7" name="AutoShape 18">
            <a:extLst>
              <a:ext uri="{FF2B5EF4-FFF2-40B4-BE49-F238E27FC236}">
                <a16:creationId xmlns:a16="http://schemas.microsoft.com/office/drawing/2014/main" id="{492742FC-A79E-6DD6-3954-6F55D4D49C44}"/>
              </a:ext>
            </a:extLst>
          </p:cNvPr>
          <p:cNvSpPr/>
          <p:nvPr/>
        </p:nvSpPr>
        <p:spPr>
          <a:xfrm>
            <a:off x="761999" y="4400695"/>
            <a:ext cx="10668000" cy="10343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altLang="zh-CN" sz="1800" b="1" dirty="0">
              <a:solidFill>
                <a:srgbClr val="0D47A1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6A0119C2-F122-8F15-0CAA-56B5E7C3A7B6}"/>
              </a:ext>
            </a:extLst>
          </p:cNvPr>
          <p:cNvSpPr/>
          <p:nvPr/>
        </p:nvSpPr>
        <p:spPr>
          <a:xfrm>
            <a:off x="963705" y="1122828"/>
            <a:ext cx="4549589" cy="5156947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fontAlgn="base"/>
            <a:r>
              <a:rPr lang="en-US" altLang="zh-CN" b="1" dirty="0"/>
              <a:t> 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Actionable Recommendations</a:t>
            </a:r>
          </a:p>
          <a:p>
            <a:pPr fontAlgn="base"/>
            <a:endParaRPr lang="en-US" altLang="zh-CN" sz="2400" dirty="0">
              <a:solidFill>
                <a:schemeClr val="accent1">
                  <a:lumMod val="50000"/>
                </a:schemeClr>
              </a:solidFill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</a:rPr>
              <a:t>For Employers: Break the "~80% Undisclosed" norm.</a:t>
            </a:r>
          </a:p>
          <a:p>
            <a:pPr fontAlgn="base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Proactively disclosing competitive salaries can serve as a strong market differentiator to attract top-tier talents in a highly opaque environment.</a:t>
            </a:r>
          </a:p>
          <a:p>
            <a:pPr fontAlgn="base"/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fontAlgn="base"/>
            <a:r>
              <a:rPr lang="en-US" altLang="zh-CN" b="1" dirty="0">
                <a:solidFill>
                  <a:srgbClr val="FF0000"/>
                </a:solidFill>
              </a:rPr>
              <a:t>For Job Seekers:</a:t>
            </a:r>
            <a:r>
              <a:rPr lang="en-US" altLang="zh-CN" dirty="0">
                <a:solidFill>
                  <a:srgbClr val="FF0000"/>
                </a:solidFill>
              </a:rPr>
              <a:t> </a:t>
            </a:r>
            <a:r>
              <a:rPr lang="en-US" altLang="zh-CN" b="1" dirty="0">
                <a:solidFill>
                  <a:srgbClr val="FF0000"/>
                </a:solidFill>
              </a:rPr>
              <a:t>Ride the observed Q1 momentum.</a:t>
            </a:r>
            <a:b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Capitalize on the upward hiring trend seen in Jan–Feb. Build hybrid skills and use industry networks to navigate the "hidden salary" barrier.</a:t>
            </a: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873890D8-67FD-4ADE-C929-E895415F8E52}"/>
              </a:ext>
            </a:extLst>
          </p:cNvPr>
          <p:cNvSpPr/>
          <p:nvPr/>
        </p:nvSpPr>
        <p:spPr>
          <a:xfrm>
            <a:off x="6476999" y="1122829"/>
            <a:ext cx="4549589" cy="5156947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fontAlgn="base"/>
            <a:r>
              <a:rPr lang="en-US" altLang="zh-CN" b="1" dirty="0"/>
              <a:t> 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Data Limitations</a:t>
            </a:r>
          </a:p>
          <a:p>
            <a:pPr fontAlgn="base"/>
            <a:endParaRPr lang="en-US" altLang="zh-CN" dirty="0"/>
          </a:p>
          <a:p>
            <a:pPr fontAlgn="base"/>
            <a:r>
              <a:rPr lang="en-US" altLang="zh-CN" b="1" dirty="0">
                <a:solidFill>
                  <a:srgbClr val="FF0000"/>
                </a:solidFill>
              </a:rPr>
              <a:t>Selection Bias in Salary (~80% missing):</a:t>
            </a:r>
            <a:br>
              <a:rPr lang="en-US" altLang="zh-CN" dirty="0"/>
            </a:b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Our salary distribution represents only the 20% disclosed data. This likely underestimates the true market ceiling, as top-tier firms rarely post exact compensation.</a:t>
            </a:r>
          </a:p>
          <a:p>
            <a:pPr fontAlgn="base"/>
            <a:endParaRPr lang="en-US" altLang="zh-CN" dirty="0"/>
          </a:p>
          <a:p>
            <a:pPr fontAlgn="base"/>
            <a:r>
              <a:rPr lang="en-US" altLang="zh-CN" b="1" dirty="0">
                <a:solidFill>
                  <a:srgbClr val="FF0000"/>
                </a:solidFill>
              </a:rPr>
              <a:t>Restricted Timeframe (Nov to Feb):</a:t>
            </a:r>
            <a:br>
              <a:rPr lang="en-US" altLang="zh-CN" dirty="0"/>
            </a:b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While we identified a clear Q1 recruitment uptick, the 4-month window is too short to confirm full-year macroeconomic seasonality (e.g., summer graduate cycles).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346</Words>
  <Application>Microsoft Office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Noto Sans SC</vt:lpstr>
      <vt:lpstr>等线</vt:lpstr>
      <vt:lpstr>Arial</vt:lpstr>
      <vt:lpstr>Calibri</vt:lpstr>
      <vt:lpstr>WPS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kaf</dc:creator>
  <cp:lastModifiedBy>定宇 岑</cp:lastModifiedBy>
  <cp:revision>63</cp:revision>
  <dcterms:created xsi:type="dcterms:W3CDTF">2023-08-09T12:44:55Z</dcterms:created>
  <dcterms:modified xsi:type="dcterms:W3CDTF">2026-04-15T11:33:02Z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