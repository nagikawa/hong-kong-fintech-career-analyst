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2"/>
  </p:sldMasterIdLst>
  <p:notesMasterIdLst>
    <p:notesMasterId r:id="rId6"/>
  </p:notesMasterIdLst>
  <p:sldIdLst>
    <p:sldId id="256" r:id="rId3"/>
    <p:sldId id="257" r:id="rId4"/>
    <p:sldId id="258" r:id="rId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97"/>
    <p:restoredTop sz="94694"/>
  </p:normalViewPr>
  <p:slideViewPr>
    <p:cSldViewPr snapToGrid="0" showGuides="1">
      <p:cViewPr varScale="1">
        <p:scale>
          <a:sx n="121" d="100"/>
          <a:sy n="121" d="100"/>
        </p:scale>
        <p:origin x="224" y="17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3.xml"/><Relationship Id="rId10"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15.04.2026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Hello everyone, today I will present our exploration and analysis report on IT and finance industry recruitment data in Hong Kong. This report aims to reveal the current characteristics and trends of the recruitment market in these two core industries in Hong Kong through in-depth data mining.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First, let's take a look at the basic data situation. The data for this analysis is sourced from Hong Kong recruitment platforms, covering IT and Finance industry job postings from November 2025 to February 2026, totaling 2,626 records.</a:t>
            </a:r>
          </a:p>
          <a:p>
            <a:pPr indent="0" algn="l">
              <a:lnSpc>
                <a:spcPct val="100000"/>
              </a:lnSpc>
            </a:pPr>
            <a:r>
              <a:rPr lang="en-US" sz="1400" b="0" i="0" u="none" strike="noStrike">
                <a:solidFill>
                  <a:srgbClr val="000000"/>
                </a:solidFill>
              </a:rPr>
              <a:t>Regarding data quality, core business fields such as job title, location, and posting time are very complete. However, the salary information has a high missing rate, which is a common phenomenon in recruitment data. Additionally, we checked for outliers in the data and found no significant anomalies in terms of time, category, or salary, indicating that the data quality is generally reliable.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Next, let's analyze the data distribution. In terms of industry distribution, the recruitment scales of IT and Finance are quite similar. In terms of time, recruitment volume shows a steady upward trend. In terms of employment type, full-time positions account for an absolute majority. Work locations are highly concentrated in Hong Kong's core business districts. Finally, we summarize this data exploration: the overall data integrity and validity are good, clearly showing the characteristics of Hong Kong's IT and Finance industry recruitment market, laying a solid foundation for subsequent in-depth analysis. That's the end of my presentation, thank you all.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9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9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9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9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90204"/>
              <a:buNone/>
              <a:defRPr sz="3300" b="0" i="0" u="none" strike="noStrike" cap="none">
                <a:solidFill>
                  <a:schemeClr val="dk1"/>
                </a:solidFill>
                <a:latin typeface="Arial" panose="020B0604020202090204"/>
                <a:ea typeface="Arial" panose="020B0604020202090204"/>
                <a:cs typeface="Arial" panose="020B0604020202090204"/>
                <a:sym typeface="Arial" panose="020B060402020209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90204"/>
              <a:buChar char="•"/>
              <a:defRPr sz="2100" b="0" i="0" u="none" strike="noStrike" cap="none">
                <a:solidFill>
                  <a:schemeClr val="dk1"/>
                </a:solidFill>
                <a:latin typeface="Arial" panose="020B0604020202090204"/>
                <a:ea typeface="Arial" panose="020B0604020202090204"/>
                <a:cs typeface="Arial" panose="020B0604020202090204"/>
                <a:sym typeface="Arial" panose="020B0604020202090204"/>
              </a:defRPr>
            </a:lvl1pPr>
            <a:lvl2pPr marL="914400" marR="0" lvl="1" indent="-342900" algn="l" rtl="0">
              <a:lnSpc>
                <a:spcPct val="90000"/>
              </a:lnSpc>
              <a:spcBef>
                <a:spcPts val="400"/>
              </a:spcBef>
              <a:spcAft>
                <a:spcPts val="0"/>
              </a:spcAft>
              <a:buClr>
                <a:schemeClr val="dk1"/>
              </a:buClr>
              <a:buSzPts val="1800"/>
              <a:buFont typeface="Arial" panose="020B0604020202090204"/>
              <a:buChar char="•"/>
              <a:defRPr sz="1800" b="0" i="0" u="none" strike="noStrike" cap="none">
                <a:solidFill>
                  <a:schemeClr val="dk1"/>
                </a:solidFill>
                <a:latin typeface="Arial" panose="020B0604020202090204"/>
                <a:ea typeface="Arial" panose="020B0604020202090204"/>
                <a:cs typeface="Arial" panose="020B0604020202090204"/>
                <a:sym typeface="Arial" panose="020B0604020202090204"/>
              </a:defRPr>
            </a:lvl2pPr>
            <a:lvl3pPr marL="1371600" marR="0" lvl="2" indent="-323850" algn="l" rtl="0">
              <a:lnSpc>
                <a:spcPct val="90000"/>
              </a:lnSpc>
              <a:spcBef>
                <a:spcPts val="400"/>
              </a:spcBef>
              <a:spcAft>
                <a:spcPts val="0"/>
              </a:spcAft>
              <a:buClr>
                <a:schemeClr val="dk1"/>
              </a:buClr>
              <a:buSzPts val="1500"/>
              <a:buFont typeface="Arial" panose="020B0604020202090204"/>
              <a:buChar char="•"/>
              <a:defRPr sz="1500" b="0" i="0" u="none" strike="noStrike" cap="none">
                <a:solidFill>
                  <a:schemeClr val="dk1"/>
                </a:solidFill>
                <a:latin typeface="Arial" panose="020B0604020202090204"/>
                <a:ea typeface="Arial" panose="020B0604020202090204"/>
                <a:cs typeface="Arial" panose="020B0604020202090204"/>
                <a:sym typeface="Arial" panose="020B0604020202090204"/>
              </a:defRPr>
            </a:lvl3pPr>
            <a:lvl4pPr marL="1828800" marR="0" lvl="3"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4pPr>
            <a:lvl5pPr marL="2286000" marR="0" lvl="4"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5pPr>
            <a:lvl6pPr marL="2743200" marR="0" lvl="5"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6pPr>
            <a:lvl7pPr marL="3200400" marR="0" lvl="6"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7pPr>
            <a:lvl8pPr marL="3657600" marR="0" lvl="7"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8pPr>
            <a:lvl9pPr marL="4114800" marR="0" lvl="8"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1pPr>
            <a:lvl2pPr marR="0" lvl="1"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2pPr>
            <a:lvl3pPr marR="0" lvl="2"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3pPr>
            <a:lvl4pPr marR="0" lvl="3"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4pPr>
            <a:lvl5pPr marR="0" lvl="4"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5pPr>
            <a:lvl6pPr marR="0" lvl="5"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6pPr>
            <a:lvl7pPr marR="0" lvl="6"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7pPr>
            <a:lvl8pPr marR="0" lvl="7"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8pPr>
            <a:lvl9pPr marR="0" lvl="8"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1pPr>
            <a:lvl2pPr marR="0" lvl="1"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2pPr>
            <a:lvl3pPr marR="0" lvl="2"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3pPr>
            <a:lvl4pPr marR="0" lvl="3"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4pPr>
            <a:lvl5pPr marR="0" lvl="4"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5pPr>
            <a:lvl6pPr marR="0" lvl="5"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6pPr>
            <a:lvl7pPr marR="0" lvl="6"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7pPr>
            <a:lvl8pPr marR="0" lvl="7"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8pPr>
            <a:lvl9pPr marR="0" lvl="8"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1pPr>
            <a:lvl2pPr marL="0" marR="0" lvl="1"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2pPr>
            <a:lvl3pPr marL="0" marR="0" lvl="2"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3pPr>
            <a:lvl4pPr marL="0" marR="0" lvl="3"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4pPr>
            <a:lvl5pPr marL="0" marR="0" lvl="4"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5pPr>
            <a:lvl6pPr marL="0" marR="0" lvl="5"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6pPr>
            <a:lvl7pPr marL="0" marR="0" lvl="6"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7pPr>
            <a:lvl8pPr marL="0" marR="0" lvl="7"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8pPr>
            <a:lvl9pPr marL="0" marR="0" lvl="8"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image" Target="../media/image3.sv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jpeg"/><Relationship Id="rId7" Type="http://schemas.openxmlformats.org/officeDocument/2006/relationships/image" Target="../media/image8.sv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 Id="rId9" Type="http://schemas.openxmlformats.org/officeDocument/2006/relationships/image" Target="../media/image10.svg"/></Relationships>
</file>

<file path=ppt/slides/_rels/slide3.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svg"/><Relationship Id="rId3" Type="http://schemas.openxmlformats.org/officeDocument/2006/relationships/image" Target="../media/image11.jpeg"/><Relationship Id="rId7" Type="http://schemas.openxmlformats.org/officeDocument/2006/relationships/image" Target="../media/image15.svg"/><Relationship Id="rId12" Type="http://schemas.openxmlformats.org/officeDocument/2006/relationships/image" Target="../media/image20.pn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14.png"/><Relationship Id="rId11" Type="http://schemas.openxmlformats.org/officeDocument/2006/relationships/image" Target="../media/image19.svg"/><Relationship Id="rId5" Type="http://schemas.openxmlformats.org/officeDocument/2006/relationships/image" Target="../media/image13.svg"/><Relationship Id="rId15" Type="http://schemas.openxmlformats.org/officeDocument/2006/relationships/image" Target="../media/image23.sv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svg"/><Relationship Id="rId14"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47A1">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294290"/>
            <a:ext cx="12192000" cy="6858000"/>
          </a:xfrm>
          <a:prstGeom prst="roundRect">
            <a:avLst>
              <a:gd name="adj" fmla="val 0"/>
            </a:avLst>
          </a:prstGeom>
          <a:solidFill>
            <a:srgbClr val="0D47A1">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0" y="0"/>
            <a:ext cx="12192000" cy="76200"/>
          </a:xfrm>
          <a:prstGeom prst="roundRect">
            <a:avLst>
              <a:gd name="adj" fmla="val 0"/>
            </a:avLst>
          </a:prstGeom>
          <a:solidFill>
            <a:srgbClr val="BBDEF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016000" y="3492500"/>
            <a:ext cx="10160000" cy="762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2400" b="1" i="0" u="none" strike="noStrike" dirty="0">
                <a:solidFill>
                  <a:srgbClr val="FFFFFF"/>
                </a:solidFill>
                <a:latin typeface="Noto Sans SC"/>
                <a:ea typeface="Noto Sans SC"/>
                <a:cs typeface="Noto Sans SC"/>
                <a:sym typeface="Noto Sans SC"/>
              </a:rPr>
              <a:t>Data Exploration and Analysis </a:t>
            </a:r>
            <a:endParaRPr lang="en-US" sz="2400" b="1" dirty="0">
              <a:solidFill>
                <a:srgbClr val="FFFFFF"/>
              </a:solidFill>
              <a:latin typeface="Noto Sans SC"/>
              <a:ea typeface="Noto Sans SC"/>
              <a:cs typeface="Noto Sans SC"/>
              <a:sym typeface="Noto Sans SC"/>
            </a:endParaRPr>
          </a:p>
          <a:p>
            <a:pPr indent="0" algn="ctr">
              <a:lnSpc>
                <a:spcPct val="125000"/>
              </a:lnSpc>
              <a:defRPr/>
            </a:pPr>
            <a:r>
              <a:rPr lang="en-US" sz="2400" b="1" i="0" u="none" strike="noStrike" dirty="0">
                <a:solidFill>
                  <a:srgbClr val="FFFFFF"/>
                </a:solidFill>
                <a:latin typeface="Noto Sans SC"/>
                <a:ea typeface="Noto Sans SC"/>
                <a:cs typeface="Noto Sans SC"/>
                <a:sym typeface="Noto Sans SC"/>
              </a:rPr>
              <a:t> Li </a:t>
            </a:r>
            <a:r>
              <a:rPr lang="en-US" sz="2400" b="1" i="0" u="none" strike="noStrike" dirty="0" err="1">
                <a:solidFill>
                  <a:srgbClr val="FFFFFF"/>
                </a:solidFill>
                <a:latin typeface="Noto Sans SC"/>
                <a:ea typeface="Noto Sans SC"/>
                <a:cs typeface="Noto Sans SC"/>
                <a:sym typeface="Noto Sans SC"/>
              </a:rPr>
              <a:t>Yingdong</a:t>
            </a:r>
            <a:r>
              <a:rPr lang="en-US" sz="2400" b="1" i="0" u="none" strike="noStrike" dirty="0">
                <a:solidFill>
                  <a:srgbClr val="FFFFFF"/>
                </a:solidFill>
                <a:latin typeface="Noto Sans SC"/>
                <a:ea typeface="Noto Sans SC"/>
                <a:cs typeface="Noto Sans SC"/>
                <a:sym typeface="Noto Sans SC"/>
              </a:rPr>
              <a:t> (25421336)</a:t>
            </a:r>
            <a:endParaRPr lang="en-US" sz="1100" dirty="0"/>
          </a:p>
        </p:txBody>
      </p:sp>
      <p:sp>
        <p:nvSpPr>
          <p:cNvPr id="6" name="AutoShape 6"/>
          <p:cNvSpPr/>
          <p:nvPr/>
        </p:nvSpPr>
        <p:spPr>
          <a:xfrm>
            <a:off x="5715000" y="3175000"/>
            <a:ext cx="762000" cy="50800"/>
          </a:xfrm>
          <a:prstGeom prst="roundRect">
            <a:avLst>
              <a:gd name="adj" fmla="val 0"/>
            </a:avLst>
          </a:prstGeom>
          <a:solidFill>
            <a:srgbClr val="BBDEF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1110593" y="2448910"/>
            <a:ext cx="10160000" cy="508000"/>
          </a:xfrm>
          <a:prstGeom prst="rect">
            <a:avLst/>
          </a:prstGeom>
          <a:noFill/>
          <a:ln w="12700" cap="flat" cmpd="sng">
            <a:noFill/>
            <a:prstDash val="solid"/>
            <a:round/>
          </a:ln>
        </p:spPr>
        <p:txBody>
          <a:bodyPr vert="horz" wrap="none" lIns="0" tIns="0" rIns="0" bIns="0" rtlCol="0" anchor="t" anchorCtr="0"/>
          <a:lstStyle/>
          <a:p>
            <a:pPr indent="0" algn="ctr">
              <a:lnSpc>
                <a:spcPct val="125000"/>
              </a:lnSpc>
              <a:defRPr/>
            </a:pPr>
            <a:r>
              <a:rPr lang="en-US" sz="3200" b="0" i="0" u="none" strike="noStrike" dirty="0">
                <a:solidFill>
                  <a:srgbClr val="E0F2FE"/>
                </a:solidFill>
                <a:latin typeface="Noto Sans SC"/>
                <a:ea typeface="Noto Sans SC"/>
                <a:cs typeface="Noto Sans SC"/>
                <a:sym typeface="Noto Sans SC"/>
              </a:rPr>
              <a:t>Descriptive Analysis of Hong Kong IT &amp; Finance Job Market (2025–2026)</a:t>
            </a:r>
            <a:endParaRPr lang="en-US" sz="3200" dirty="0"/>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892800" y="1651000"/>
            <a:ext cx="406400" cy="4064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254000"/>
            <a:ext cx="12192000" cy="6858000"/>
          </a:xfrm>
          <a:prstGeom prst="rect">
            <a:avLst/>
          </a:prstGeom>
          <a:noFill/>
          <a:ln w="25400" cap="flat" cmpd="sng">
            <a:noFill/>
            <a:prstDash val="solid"/>
            <a:round/>
          </a:ln>
        </p:spPr>
      </p:pic>
      <p:sp>
        <p:nvSpPr>
          <p:cNvPr id="3" name="AutoShape 3"/>
          <p:cNvSpPr/>
          <p:nvPr/>
        </p:nvSpPr>
        <p:spPr>
          <a:xfrm>
            <a:off x="762000" y="381000"/>
            <a:ext cx="10160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2800" b="1" i="0" u="none" strike="noStrike" dirty="0">
                <a:solidFill>
                  <a:srgbClr val="0D47A1"/>
                </a:solidFill>
                <a:latin typeface="Noto Sans SC"/>
                <a:ea typeface="Noto Sans SC"/>
                <a:cs typeface="Noto Sans SC"/>
                <a:sym typeface="Noto Sans SC"/>
              </a:rPr>
              <a:t>Data Overview and Quality Analysis</a:t>
            </a:r>
            <a:endParaRPr lang="en-US" sz="1100" dirty="0"/>
          </a:p>
        </p:txBody>
      </p:sp>
      <p:sp>
        <p:nvSpPr>
          <p:cNvPr id="4" name="AutoShape 4"/>
          <p:cNvSpPr/>
          <p:nvPr/>
        </p:nvSpPr>
        <p:spPr>
          <a:xfrm>
            <a:off x="762000" y="1270000"/>
            <a:ext cx="5080000" cy="4572000"/>
          </a:xfrm>
          <a:prstGeom prst="roundRect">
            <a:avLst>
              <a:gd name="adj" fmla="val 2777"/>
            </a:avLst>
          </a:prstGeom>
          <a:solidFill>
            <a:srgbClr val="FFFFFF">
              <a:alpha val="90000"/>
            </a:srgbClr>
          </a:solidFill>
          <a:ln w="25400" cap="flat" cmpd="sng">
            <a:noFill/>
            <a:prstDash val="solid"/>
            <a:round/>
          </a:ln>
          <a:effectLst>
            <a:outerShdw blurRad="127000" dist="50800" dir="5400000" algn="tl" rotWithShape="0">
              <a:srgbClr val="0D47A1">
                <a:alpha val="15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1498600"/>
            <a:ext cx="304800" cy="304800"/>
          </a:xfrm>
          <a:prstGeom prst="rect">
            <a:avLst/>
          </a:prstGeom>
        </p:spPr>
      </p:pic>
      <p:sp>
        <p:nvSpPr>
          <p:cNvPr id="6" name="AutoShape 6"/>
          <p:cNvSpPr/>
          <p:nvPr/>
        </p:nvSpPr>
        <p:spPr>
          <a:xfrm>
            <a:off x="1397000" y="14605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D47A1"/>
                </a:solidFill>
                <a:latin typeface="Noto Sans SC"/>
                <a:ea typeface="Noto Sans SC"/>
                <a:cs typeface="Noto Sans SC"/>
                <a:sym typeface="Noto Sans SC"/>
              </a:rPr>
              <a:t>Data Basic Overview</a:t>
            </a:r>
            <a:endParaRPr lang="en-US" sz="1100"/>
          </a:p>
        </p:txBody>
      </p:sp>
      <p:sp>
        <p:nvSpPr>
          <p:cNvPr id="7" name="AutoShape 7"/>
          <p:cNvSpPr/>
          <p:nvPr/>
        </p:nvSpPr>
        <p:spPr>
          <a:xfrm>
            <a:off x="1016000" y="1968500"/>
            <a:ext cx="457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90A4AE"/>
                </a:solidFill>
                <a:latin typeface="Noto Sans SC"/>
                <a:ea typeface="Noto Sans SC"/>
                <a:cs typeface="Noto Sans SC"/>
                <a:sym typeface="Noto Sans SC"/>
              </a:rPr>
              <a:t>Data Source:</a:t>
            </a:r>
            <a:r>
              <a:rPr lang="en-US" sz="1200" b="0" i="0" u="none" strike="noStrike">
                <a:solidFill>
                  <a:srgbClr val="37474F"/>
                </a:solidFill>
                <a:latin typeface="Noto Sans SC"/>
                <a:ea typeface="Noto Sans SC"/>
                <a:cs typeface="Noto Sans SC"/>
                <a:sym typeface="Noto Sans SC"/>
              </a:rPr>
              <a:t>This dataset was collected from Hong Kong IT and finance job platforms</a:t>
            </a:r>
            <a:endParaRPr lang="en-US" sz="1100"/>
          </a:p>
        </p:txBody>
      </p:sp>
      <p:sp>
        <p:nvSpPr>
          <p:cNvPr id="8" name="AutoShape 8"/>
          <p:cNvSpPr/>
          <p:nvPr/>
        </p:nvSpPr>
        <p:spPr>
          <a:xfrm>
            <a:off x="1016000" y="2516667"/>
            <a:ext cx="457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dirty="0">
                <a:solidFill>
                  <a:srgbClr val="90A4AE"/>
                </a:solidFill>
                <a:latin typeface="Noto Sans SC"/>
                <a:ea typeface="Noto Sans SC"/>
                <a:cs typeface="Noto Sans SC"/>
                <a:sym typeface="Noto Sans SC"/>
              </a:rPr>
              <a:t>Time Coverage:</a:t>
            </a:r>
            <a:r>
              <a:rPr lang="zh-CN" altLang="en-US" sz="1200" b="1" i="0" u="none" strike="noStrike" dirty="0">
                <a:solidFill>
                  <a:srgbClr val="90A4AE"/>
                </a:solidFill>
                <a:latin typeface="Noto Sans SC"/>
                <a:ea typeface="Noto Sans SC"/>
                <a:cs typeface="Noto Sans SC"/>
                <a:sym typeface="Noto Sans SC"/>
              </a:rPr>
              <a:t> </a:t>
            </a:r>
            <a:r>
              <a:rPr lang="en-US" sz="1200" b="0" i="0" u="none" strike="noStrike" dirty="0">
                <a:solidFill>
                  <a:srgbClr val="37474F"/>
                </a:solidFill>
                <a:latin typeface="Noto Sans SC"/>
                <a:ea typeface="Noto Sans SC"/>
                <a:cs typeface="Noto Sans SC"/>
                <a:sym typeface="Noto Sans SC"/>
              </a:rPr>
              <a:t>The main analysis focuses on November 2025 to February 2026, while the actual </a:t>
            </a:r>
            <a:r>
              <a:rPr lang="en-US" sz="1200" b="0" i="0" u="none" strike="noStrike" dirty="0" err="1">
                <a:solidFill>
                  <a:srgbClr val="37474F"/>
                </a:solidFill>
                <a:latin typeface="Noto Sans SC"/>
                <a:ea typeface="Noto Sans SC"/>
                <a:cs typeface="Noto Sans SC"/>
                <a:sym typeface="Noto Sans SC"/>
              </a:rPr>
              <a:t>listedAt</a:t>
            </a:r>
            <a:r>
              <a:rPr lang="en-US" sz="1200" b="0" i="0" u="none" strike="noStrike" dirty="0">
                <a:solidFill>
                  <a:srgbClr val="37474F"/>
                </a:solidFill>
                <a:latin typeface="Noto Sans SC"/>
                <a:ea typeface="Noto Sans SC"/>
                <a:cs typeface="Noto Sans SC"/>
                <a:sym typeface="Noto Sans SC"/>
              </a:rPr>
              <a:t> records range from October 2024 to February 2026</a:t>
            </a:r>
            <a:endParaRPr lang="en-US" sz="1100" dirty="0"/>
          </a:p>
        </p:txBody>
      </p:sp>
      <p:sp>
        <p:nvSpPr>
          <p:cNvPr id="9" name="AutoShape 9"/>
          <p:cNvSpPr/>
          <p:nvPr/>
        </p:nvSpPr>
        <p:spPr>
          <a:xfrm>
            <a:off x="1016000" y="3016250"/>
            <a:ext cx="457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dirty="0">
                <a:solidFill>
                  <a:srgbClr val="90A4AE"/>
                </a:solidFill>
                <a:latin typeface="Noto Sans SC"/>
                <a:ea typeface="Noto Sans SC"/>
                <a:cs typeface="Noto Sans SC"/>
                <a:sym typeface="Noto Sans SC"/>
              </a:rPr>
              <a:t>File Composition:</a:t>
            </a:r>
            <a:r>
              <a:rPr lang="en-US" sz="1200" b="0" i="0" u="none" strike="noStrike" dirty="0">
                <a:solidFill>
                  <a:srgbClr val="37474F"/>
                </a:solidFill>
                <a:latin typeface="Noto Sans SC"/>
                <a:ea typeface="Noto Sans SC"/>
                <a:cs typeface="Noto Sans SC"/>
                <a:sym typeface="Noto Sans SC"/>
              </a:rPr>
              <a:t>7 raw datasets in total, including 4 IT datasets and 3 finance datasets</a:t>
            </a:r>
            <a:endParaRPr lang="en-US" sz="1100" dirty="0"/>
          </a:p>
        </p:txBody>
      </p:sp>
      <p:graphicFrame>
        <p:nvGraphicFramePr>
          <p:cNvPr id="10" name="Table 10"/>
          <p:cNvGraphicFramePr>
            <a:graphicFrameLocks noGrp="1"/>
          </p:cNvGraphicFramePr>
          <p:nvPr>
            <p:extLst>
              <p:ext uri="{D42A27DB-BD31-4B8C-83A1-F6EECF244321}">
                <p14:modId xmlns:p14="http://schemas.microsoft.com/office/powerpoint/2010/main" val="3672824668"/>
              </p:ext>
            </p:extLst>
          </p:nvPr>
        </p:nvGraphicFramePr>
        <p:xfrm>
          <a:off x="1016000" y="3448050"/>
          <a:ext cx="4572000" cy="2247900"/>
        </p:xfrm>
        <a:graphic>
          <a:graphicData uri="http://schemas.openxmlformats.org/drawingml/2006/table">
            <a:tbl>
              <a:tblPr>
                <a:effectLst/>
              </a:tblPr>
              <a:tblGrid>
                <a:gridCol w="1270000">
                  <a:extLst>
                    <a:ext uri="{9D8B030D-6E8A-4147-A177-3AD203B41FA5}">
                      <a16:colId xmlns:a16="http://schemas.microsoft.com/office/drawing/2014/main" val="20000"/>
                    </a:ext>
                  </a:extLst>
                </a:gridCol>
                <a:gridCol w="1651000">
                  <a:extLst>
                    <a:ext uri="{9D8B030D-6E8A-4147-A177-3AD203B41FA5}">
                      <a16:colId xmlns:a16="http://schemas.microsoft.com/office/drawing/2014/main" val="20001"/>
                    </a:ext>
                  </a:extLst>
                </a:gridCol>
                <a:gridCol w="1651000">
                  <a:extLst>
                    <a:ext uri="{9D8B030D-6E8A-4147-A177-3AD203B41FA5}">
                      <a16:colId xmlns:a16="http://schemas.microsoft.com/office/drawing/2014/main" val="20002"/>
                    </a:ext>
                  </a:extLst>
                </a:gridCol>
              </a:tblGrid>
              <a:tr h="561975">
                <a:tc>
                  <a:txBody>
                    <a:bodyPr/>
                    <a:lstStyle/>
                    <a:p>
                      <a:pPr indent="0" algn="ctr">
                        <a:lnSpc>
                          <a:spcPct val="100000"/>
                        </a:lnSpc>
                        <a:defRPr/>
                      </a:pPr>
                      <a:r>
                        <a:rPr lang="en-US" sz="1400" b="1" i="0" u="none" strike="noStrike">
                          <a:solidFill>
                            <a:srgbClr val="0D47A1"/>
                          </a:solidFill>
                          <a:latin typeface="Noto Sans SC"/>
                          <a:ea typeface="Noto Sans SC"/>
                          <a:cs typeface="Noto Sans SC"/>
                          <a:sym typeface="Noto Sans SC"/>
                        </a:rPr>
                        <a:t>Industry Type</a:t>
                      </a:r>
                      <a:endParaRPr lang="en-US" sz="1100"/>
                    </a:p>
                  </a:txBody>
                  <a:tcPr marL="101600" marR="101600" marT="101600" marB="101600">
                    <a:lnL>
                      <a:noFill/>
                    </a:lnL>
                    <a:lnR>
                      <a:noFill/>
                    </a:lnR>
                    <a:lnT>
                      <a:noFill/>
                    </a:lnT>
                    <a:lnB>
                      <a:noFill/>
                    </a:lnB>
                    <a:solidFill>
                      <a:srgbClr val="BBDEFB">
                        <a:alpha val="100000"/>
                      </a:srgbClr>
                    </a:solidFill>
                  </a:tcPr>
                </a:tc>
                <a:tc>
                  <a:txBody>
                    <a:bodyPr/>
                    <a:lstStyle/>
                    <a:p>
                      <a:pPr indent="0" algn="ctr">
                        <a:lnSpc>
                          <a:spcPct val="100000"/>
                        </a:lnSpc>
                        <a:defRPr/>
                      </a:pPr>
                      <a:r>
                        <a:rPr lang="en-US" sz="1400" b="1" i="0" u="none" strike="noStrike">
                          <a:solidFill>
                            <a:srgbClr val="0D47A1"/>
                          </a:solidFill>
                          <a:latin typeface="Noto Sans SC"/>
                          <a:ea typeface="Noto Sans SC"/>
                          <a:cs typeface="Noto Sans SC"/>
                          <a:sym typeface="Noto Sans SC"/>
                        </a:rPr>
                        <a:t>Record Count</a:t>
                      </a:r>
                      <a:endParaRPr lang="en-US" sz="1100"/>
                    </a:p>
                  </a:txBody>
                  <a:tcPr marL="101600" marR="101600" marT="101600" marB="101600">
                    <a:lnL>
                      <a:noFill/>
                    </a:lnL>
                    <a:lnR>
                      <a:noFill/>
                    </a:lnR>
                    <a:lnT>
                      <a:noFill/>
                    </a:lnT>
                    <a:lnB>
                      <a:noFill/>
                    </a:lnB>
                    <a:solidFill>
                      <a:srgbClr val="BBDEFB">
                        <a:alpha val="100000"/>
                      </a:srgbClr>
                    </a:solidFill>
                  </a:tcPr>
                </a:tc>
                <a:tc>
                  <a:txBody>
                    <a:bodyPr/>
                    <a:lstStyle/>
                    <a:p>
                      <a:pPr indent="0" algn="ctr">
                        <a:lnSpc>
                          <a:spcPct val="100000"/>
                        </a:lnSpc>
                        <a:defRPr/>
                      </a:pPr>
                      <a:r>
                        <a:rPr lang="en-US" sz="1400" b="1" i="0" u="none" strike="noStrike" dirty="0">
                          <a:solidFill>
                            <a:srgbClr val="0D47A1"/>
                          </a:solidFill>
                          <a:latin typeface="Noto Sans SC"/>
                          <a:ea typeface="Noto Sans SC"/>
                          <a:cs typeface="Noto Sans SC"/>
                          <a:sym typeface="Noto Sans SC"/>
                        </a:rPr>
                        <a:t>Field Count</a:t>
                      </a:r>
                      <a:endParaRPr lang="en-US" sz="1100" dirty="0"/>
                    </a:p>
                  </a:txBody>
                  <a:tcPr marL="101600" marR="101600" marT="101600" marB="101600">
                    <a:lnL>
                      <a:noFill/>
                    </a:lnL>
                    <a:lnR>
                      <a:noFill/>
                    </a:lnR>
                    <a:lnT>
                      <a:noFill/>
                    </a:lnT>
                    <a:lnB>
                      <a:noFill/>
                    </a:lnB>
                    <a:solidFill>
                      <a:srgbClr val="BBDEFB">
                        <a:alpha val="100000"/>
                      </a:srgbClr>
                    </a:solidFill>
                  </a:tcPr>
                </a:tc>
                <a:extLst>
                  <a:ext uri="{0D108BD9-81ED-4DB2-BD59-A6C34878D82A}">
                    <a16:rowId xmlns:a16="http://schemas.microsoft.com/office/drawing/2014/main" val="10000"/>
                  </a:ext>
                </a:extLst>
              </a:tr>
              <a:tr h="561975">
                <a:tc>
                  <a:txBody>
                    <a:bodyPr/>
                    <a:lstStyle/>
                    <a:p>
                      <a:pPr indent="0" algn="ctr">
                        <a:lnSpc>
                          <a:spcPct val="100000"/>
                        </a:lnSpc>
                        <a:defRPr/>
                      </a:pPr>
                      <a:r>
                        <a:rPr lang="en-US" sz="1400" b="0" i="0" u="none" strike="noStrike">
                          <a:solidFill>
                            <a:srgbClr val="37474F"/>
                          </a:solidFill>
                          <a:latin typeface="Noto Sans SC"/>
                          <a:ea typeface="Noto Sans SC"/>
                          <a:cs typeface="Noto Sans SC"/>
                          <a:sym typeface="Noto Sans SC"/>
                        </a:rPr>
                        <a:t>IT</a:t>
                      </a:r>
                      <a:endParaRPr lang="en-US" sz="1100"/>
                    </a:p>
                  </a:txBody>
                  <a:tcPr marL="101600" marR="101600" marT="101600" marB="101600">
                    <a:lnL>
                      <a:noFill/>
                    </a:lnL>
                    <a:lnR>
                      <a:noFill/>
                    </a:lnR>
                    <a:lnT>
                      <a:noFill/>
                    </a:lnT>
                    <a:lnB>
                      <a:noFill/>
                    </a:lnB>
                    <a:solidFill>
                      <a:srgbClr val="ECF3FF">
                        <a:alpha val="100000"/>
                      </a:srgbClr>
                    </a:solidFill>
                  </a:tcPr>
                </a:tc>
                <a:tc>
                  <a:txBody>
                    <a:bodyPr/>
                    <a:lstStyle/>
                    <a:p>
                      <a:pPr indent="0" algn="ctr">
                        <a:lnSpc>
                          <a:spcPct val="100000"/>
                        </a:lnSpc>
                        <a:defRPr/>
                      </a:pPr>
                      <a:r>
                        <a:rPr lang="en-US" sz="1400" b="0" i="0" u="none" strike="noStrike" dirty="0">
                          <a:solidFill>
                            <a:srgbClr val="37474F"/>
                          </a:solidFill>
                          <a:latin typeface="Noto Sans SC"/>
                          <a:ea typeface="Noto Sans SC"/>
                          <a:cs typeface="Noto Sans SC"/>
                          <a:sym typeface="Noto Sans SC"/>
                        </a:rPr>
                        <a:t>1</a:t>
                      </a:r>
                      <a:r>
                        <a:rPr lang="en-US" altLang="zh-CN" sz="1400" b="0" i="0" u="none" strike="noStrike" dirty="0">
                          <a:solidFill>
                            <a:srgbClr val="37474F"/>
                          </a:solidFill>
                          <a:latin typeface="Noto Sans SC"/>
                          <a:ea typeface="Noto Sans SC"/>
                          <a:cs typeface="Noto Sans SC"/>
                          <a:sym typeface="Noto Sans SC"/>
                        </a:rPr>
                        <a:t>6410</a:t>
                      </a:r>
                      <a:endParaRPr lang="en-US" sz="1100" dirty="0"/>
                    </a:p>
                  </a:txBody>
                  <a:tcPr marL="101600" marR="101600" marT="101600" marB="101600">
                    <a:lnL>
                      <a:noFill/>
                    </a:lnL>
                    <a:lnR>
                      <a:noFill/>
                    </a:lnR>
                    <a:lnT>
                      <a:noFill/>
                    </a:lnT>
                    <a:lnB>
                      <a:noFill/>
                    </a:lnB>
                    <a:solidFill>
                      <a:srgbClr val="ECF3FF">
                        <a:alpha val="100000"/>
                      </a:srgbClr>
                    </a:solidFill>
                  </a:tcPr>
                </a:tc>
                <a:tc>
                  <a:txBody>
                    <a:bodyPr/>
                    <a:lstStyle/>
                    <a:p>
                      <a:pPr indent="0" algn="ctr">
                        <a:lnSpc>
                          <a:spcPct val="100000"/>
                        </a:lnSpc>
                        <a:defRPr/>
                      </a:pPr>
                      <a:r>
                        <a:rPr lang="en-US" sz="1400" b="0" i="0" u="none" strike="noStrike" dirty="0">
                          <a:solidFill>
                            <a:srgbClr val="37474F"/>
                          </a:solidFill>
                          <a:latin typeface="Noto Sans SC"/>
                          <a:ea typeface="Noto Sans SC"/>
                          <a:cs typeface="Noto Sans SC"/>
                          <a:sym typeface="Noto Sans SC"/>
                        </a:rPr>
                        <a:t>3</a:t>
                      </a:r>
                      <a:r>
                        <a:rPr lang="en-US" altLang="zh-CN" sz="1400" b="0" i="0" u="none" strike="noStrike" dirty="0">
                          <a:solidFill>
                            <a:srgbClr val="37474F"/>
                          </a:solidFill>
                          <a:latin typeface="Noto Sans SC"/>
                          <a:ea typeface="Noto Sans SC"/>
                          <a:cs typeface="Noto Sans SC"/>
                          <a:sym typeface="Noto Sans SC"/>
                        </a:rPr>
                        <a:t>8</a:t>
                      </a:r>
                      <a:endParaRPr lang="en-US" sz="1100" dirty="0"/>
                    </a:p>
                  </a:txBody>
                  <a:tcPr marL="101600" marR="101600" marT="101600" marB="101600">
                    <a:lnL>
                      <a:noFill/>
                    </a:lnL>
                    <a:lnR>
                      <a:noFill/>
                    </a:lnR>
                    <a:lnT>
                      <a:noFill/>
                    </a:lnT>
                    <a:lnB>
                      <a:noFill/>
                    </a:lnB>
                    <a:solidFill>
                      <a:srgbClr val="ECF3FF">
                        <a:alpha val="100000"/>
                      </a:srgbClr>
                    </a:solidFill>
                  </a:tcPr>
                </a:tc>
                <a:extLst>
                  <a:ext uri="{0D108BD9-81ED-4DB2-BD59-A6C34878D82A}">
                    <a16:rowId xmlns:a16="http://schemas.microsoft.com/office/drawing/2014/main" val="10001"/>
                  </a:ext>
                </a:extLst>
              </a:tr>
              <a:tr h="561975">
                <a:tc>
                  <a:txBody>
                    <a:bodyPr/>
                    <a:lstStyle/>
                    <a:p>
                      <a:pPr indent="0" algn="ctr">
                        <a:lnSpc>
                          <a:spcPct val="100000"/>
                        </a:lnSpc>
                        <a:defRPr/>
                      </a:pPr>
                      <a:r>
                        <a:rPr lang="en-US" sz="1400" b="0" i="0" u="none" strike="noStrike">
                          <a:solidFill>
                            <a:srgbClr val="37474F"/>
                          </a:solidFill>
                          <a:latin typeface="Noto Sans SC"/>
                          <a:ea typeface="Noto Sans SC"/>
                          <a:cs typeface="Noto Sans SC"/>
                          <a:sym typeface="Noto Sans SC"/>
                        </a:rPr>
                        <a:t>Finance</a:t>
                      </a:r>
                      <a:endParaRPr lang="en-US" sz="1100"/>
                    </a:p>
                  </a:txBody>
                  <a:tcPr marL="101600" marR="101600" marT="101600" marB="101600">
                    <a:lnL>
                      <a:noFill/>
                    </a:lnL>
                    <a:lnR>
                      <a:noFill/>
                    </a:lnR>
                    <a:lnT>
                      <a:noFill/>
                    </a:lnT>
                    <a:lnB>
                      <a:noFill/>
                    </a:lnB>
                    <a:solidFill>
                      <a:srgbClr val="FFFFFF">
                        <a:alpha val="100000"/>
                      </a:srgbClr>
                    </a:solidFill>
                  </a:tcPr>
                </a:tc>
                <a:tc>
                  <a:txBody>
                    <a:bodyPr/>
                    <a:lstStyle/>
                    <a:p>
                      <a:pPr indent="0" algn="ctr">
                        <a:lnSpc>
                          <a:spcPct val="100000"/>
                        </a:lnSpc>
                        <a:defRPr/>
                      </a:pPr>
                      <a:r>
                        <a:rPr lang="en-US" altLang="zh-CN" sz="1400" b="0" i="0" u="none" strike="noStrike" dirty="0">
                          <a:solidFill>
                            <a:srgbClr val="37474F"/>
                          </a:solidFill>
                          <a:latin typeface="Noto Sans SC"/>
                          <a:sym typeface="Noto Sans SC"/>
                        </a:rPr>
                        <a:t>12682</a:t>
                      </a:r>
                      <a:endParaRPr lang="en-US" sz="1100" dirty="0"/>
                    </a:p>
                  </a:txBody>
                  <a:tcPr marL="101600" marR="101600" marT="101600" marB="101600">
                    <a:lnL>
                      <a:noFill/>
                    </a:lnL>
                    <a:lnR>
                      <a:noFill/>
                    </a:lnR>
                    <a:lnT>
                      <a:noFill/>
                    </a:lnT>
                    <a:lnB>
                      <a:noFill/>
                    </a:lnB>
                    <a:solidFill>
                      <a:srgbClr val="FFFFFF">
                        <a:alpha val="100000"/>
                      </a:srgbClr>
                    </a:solidFill>
                  </a:tcPr>
                </a:tc>
                <a:tc>
                  <a:txBody>
                    <a:bodyPr/>
                    <a:lstStyle/>
                    <a:p>
                      <a:pPr indent="0" algn="ctr">
                        <a:lnSpc>
                          <a:spcPct val="100000"/>
                        </a:lnSpc>
                        <a:defRPr/>
                      </a:pPr>
                      <a:r>
                        <a:rPr lang="en-US" sz="1400" b="0" i="0" u="none" strike="noStrike" dirty="0">
                          <a:solidFill>
                            <a:srgbClr val="37474F"/>
                          </a:solidFill>
                          <a:latin typeface="Noto Sans SC"/>
                          <a:ea typeface="Noto Sans SC"/>
                          <a:cs typeface="Noto Sans SC"/>
                          <a:sym typeface="Noto Sans SC"/>
                        </a:rPr>
                        <a:t>3</a:t>
                      </a:r>
                      <a:r>
                        <a:rPr lang="en-US" altLang="zh-CN" sz="1400" b="0" i="0" u="none" strike="noStrike" dirty="0">
                          <a:solidFill>
                            <a:srgbClr val="37474F"/>
                          </a:solidFill>
                          <a:latin typeface="Noto Sans SC"/>
                          <a:ea typeface="Noto Sans SC"/>
                          <a:cs typeface="Noto Sans SC"/>
                          <a:sym typeface="Noto Sans SC"/>
                        </a:rPr>
                        <a:t>8</a:t>
                      </a:r>
                      <a:endParaRPr lang="en-US" sz="1100" dirty="0"/>
                    </a:p>
                  </a:txBody>
                  <a:tcPr marL="101600" marR="101600" marT="101600" marB="101600">
                    <a:lnL>
                      <a:noFill/>
                    </a:lnL>
                    <a:lnR>
                      <a:noFill/>
                    </a:lnR>
                    <a:lnT>
                      <a:noFill/>
                    </a:lnT>
                    <a:lnB>
                      <a:noFill/>
                    </a:lnB>
                    <a:solidFill>
                      <a:srgbClr val="FFFFFF">
                        <a:alpha val="100000"/>
                      </a:srgbClr>
                    </a:solidFill>
                  </a:tcPr>
                </a:tc>
                <a:extLst>
                  <a:ext uri="{0D108BD9-81ED-4DB2-BD59-A6C34878D82A}">
                    <a16:rowId xmlns:a16="http://schemas.microsoft.com/office/drawing/2014/main" val="10002"/>
                  </a:ext>
                </a:extLst>
              </a:tr>
              <a:tr h="561975">
                <a:tc>
                  <a:txBody>
                    <a:bodyPr/>
                    <a:lstStyle/>
                    <a:p>
                      <a:pPr indent="0" algn="ctr">
                        <a:lnSpc>
                          <a:spcPct val="100000"/>
                        </a:lnSpc>
                        <a:defRPr/>
                      </a:pPr>
                      <a:r>
                        <a:rPr lang="en-US" sz="1400" b="1" i="0" u="none" strike="noStrike">
                          <a:solidFill>
                            <a:srgbClr val="0D47A1"/>
                          </a:solidFill>
                          <a:latin typeface="Noto Sans SC"/>
                          <a:ea typeface="Noto Sans SC"/>
                          <a:cs typeface="Noto Sans SC"/>
                          <a:sym typeface="Noto Sans SC"/>
                        </a:rPr>
                        <a:t>Total</a:t>
                      </a:r>
                      <a:endParaRPr lang="en-US" sz="1100"/>
                    </a:p>
                  </a:txBody>
                  <a:tcPr marL="101600" marR="101600" marT="101600" marB="101600">
                    <a:lnL>
                      <a:noFill/>
                    </a:lnL>
                    <a:lnR>
                      <a:noFill/>
                    </a:lnR>
                    <a:lnT>
                      <a:noFill/>
                    </a:lnT>
                    <a:lnB>
                      <a:noFill/>
                    </a:lnB>
                    <a:solidFill>
                      <a:srgbClr val="ECF3FF">
                        <a:alpha val="100000"/>
                      </a:srgbClr>
                    </a:solidFill>
                  </a:tcPr>
                </a:tc>
                <a:tc>
                  <a:txBody>
                    <a:bodyPr/>
                    <a:lstStyle/>
                    <a:p>
                      <a:pPr indent="0" algn="ctr">
                        <a:lnSpc>
                          <a:spcPct val="100000"/>
                        </a:lnSpc>
                        <a:defRPr/>
                      </a:pPr>
                      <a:r>
                        <a:rPr lang="en-US" altLang="zh-CN" sz="1400" b="1" i="0" u="none" strike="noStrike" dirty="0">
                          <a:solidFill>
                            <a:srgbClr val="0D47A1"/>
                          </a:solidFill>
                          <a:latin typeface="Noto Sans SC"/>
                          <a:sym typeface="Noto Sans SC"/>
                        </a:rPr>
                        <a:t>29092</a:t>
                      </a:r>
                      <a:endParaRPr lang="en-US" sz="1100" dirty="0"/>
                    </a:p>
                  </a:txBody>
                  <a:tcPr marL="101600" marR="101600" marT="101600" marB="101600">
                    <a:lnL>
                      <a:noFill/>
                    </a:lnL>
                    <a:lnR>
                      <a:noFill/>
                    </a:lnR>
                    <a:lnT>
                      <a:noFill/>
                    </a:lnT>
                    <a:lnB>
                      <a:noFill/>
                    </a:lnB>
                    <a:solidFill>
                      <a:srgbClr val="ECF3FF">
                        <a:alpha val="100000"/>
                      </a:srgbClr>
                    </a:solidFill>
                  </a:tcPr>
                </a:tc>
                <a:tc>
                  <a:txBody>
                    <a:bodyPr/>
                    <a:lstStyle/>
                    <a:p>
                      <a:pPr indent="0" algn="ctr">
                        <a:lnSpc>
                          <a:spcPct val="100000"/>
                        </a:lnSpc>
                        <a:defRPr/>
                      </a:pPr>
                      <a:r>
                        <a:rPr lang="en-US" sz="1400" b="1" i="0" u="none" strike="noStrike" dirty="0">
                          <a:solidFill>
                            <a:srgbClr val="0D47A1"/>
                          </a:solidFill>
                          <a:latin typeface="Noto Sans SC"/>
                          <a:ea typeface="Noto Sans SC"/>
                          <a:cs typeface="Noto Sans SC"/>
                          <a:sym typeface="Noto Sans SC"/>
                        </a:rPr>
                        <a:t>3</a:t>
                      </a:r>
                      <a:r>
                        <a:rPr lang="en-US" altLang="zh-CN" sz="1400" b="1" i="0" u="none" strike="noStrike" dirty="0">
                          <a:solidFill>
                            <a:srgbClr val="0D47A1"/>
                          </a:solidFill>
                          <a:latin typeface="Noto Sans SC"/>
                          <a:ea typeface="Noto Sans SC"/>
                          <a:cs typeface="Noto Sans SC"/>
                          <a:sym typeface="Noto Sans SC"/>
                        </a:rPr>
                        <a:t>8</a:t>
                      </a:r>
                      <a:endParaRPr lang="en-US" sz="1100" dirty="0"/>
                    </a:p>
                  </a:txBody>
                  <a:tcPr marL="101600" marR="101600" marT="101600" marB="101600">
                    <a:lnL>
                      <a:noFill/>
                    </a:lnL>
                    <a:lnR>
                      <a:noFill/>
                    </a:lnR>
                    <a:lnT>
                      <a:noFill/>
                    </a:lnT>
                    <a:lnB>
                      <a:noFill/>
                    </a:lnB>
                    <a:solidFill>
                      <a:srgbClr val="ECF3FF">
                        <a:alpha val="100000"/>
                      </a:srgbClr>
                    </a:solidFill>
                  </a:tcPr>
                </a:tc>
                <a:extLst>
                  <a:ext uri="{0D108BD9-81ED-4DB2-BD59-A6C34878D82A}">
                    <a16:rowId xmlns:a16="http://schemas.microsoft.com/office/drawing/2014/main" val="10003"/>
                  </a:ext>
                </a:extLst>
              </a:tr>
            </a:tbl>
          </a:graphicData>
        </a:graphic>
      </p:graphicFrame>
      <p:sp>
        <p:nvSpPr>
          <p:cNvPr id="11" name="AutoShape 11"/>
          <p:cNvSpPr/>
          <p:nvPr/>
        </p:nvSpPr>
        <p:spPr>
          <a:xfrm>
            <a:off x="6350000" y="1270000"/>
            <a:ext cx="5080000" cy="4572000"/>
          </a:xfrm>
          <a:prstGeom prst="roundRect">
            <a:avLst>
              <a:gd name="adj" fmla="val 2777"/>
            </a:avLst>
          </a:prstGeom>
          <a:solidFill>
            <a:srgbClr val="FFFFFF">
              <a:alpha val="90000"/>
            </a:srgbClr>
          </a:solidFill>
          <a:ln w="25400" cap="flat" cmpd="sng">
            <a:noFill/>
            <a:prstDash val="solid"/>
            <a:round/>
          </a:ln>
          <a:effectLst>
            <a:outerShdw blurRad="127000" dist="50800" dir="5400000" algn="tl" rotWithShape="0">
              <a:srgbClr val="0D47A1">
                <a:alpha val="15000"/>
              </a:srgbClr>
            </a:outerShdw>
          </a:effectLst>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604000" y="1498600"/>
            <a:ext cx="304800" cy="304800"/>
          </a:xfrm>
          <a:prstGeom prst="rect">
            <a:avLst/>
          </a:prstGeom>
        </p:spPr>
      </p:pic>
      <p:sp>
        <p:nvSpPr>
          <p:cNvPr id="13" name="AutoShape 13"/>
          <p:cNvSpPr/>
          <p:nvPr/>
        </p:nvSpPr>
        <p:spPr>
          <a:xfrm>
            <a:off x="6985000" y="14605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D47A1"/>
                </a:solidFill>
                <a:latin typeface="Noto Sans SC"/>
                <a:ea typeface="Noto Sans SC"/>
                <a:cs typeface="Noto Sans SC"/>
                <a:sym typeface="Noto Sans SC"/>
              </a:rPr>
              <a:t>Data Quality Analysis</a:t>
            </a:r>
            <a:endParaRPr lang="en-US" sz="1100"/>
          </a:p>
        </p:txBody>
      </p:sp>
      <p:sp>
        <p:nvSpPr>
          <p:cNvPr id="14" name="AutoShape 14"/>
          <p:cNvSpPr/>
          <p:nvPr/>
        </p:nvSpPr>
        <p:spPr>
          <a:xfrm>
            <a:off x="6604000" y="1874345"/>
            <a:ext cx="4572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dirty="0">
                <a:solidFill>
                  <a:srgbClr val="90A4AE"/>
                </a:solidFill>
                <a:latin typeface="Noto Sans SC"/>
                <a:ea typeface="Noto Sans SC"/>
                <a:cs typeface="Noto Sans SC"/>
                <a:sym typeface="Noto Sans SC"/>
              </a:rPr>
              <a:t>Missing Value Statistics of Core Fields:</a:t>
            </a:r>
            <a:endParaRPr lang="en-US" sz="1100" dirty="0"/>
          </a:p>
        </p:txBody>
      </p:sp>
      <p:graphicFrame>
        <p:nvGraphicFramePr>
          <p:cNvPr id="15" name="Table 15"/>
          <p:cNvGraphicFramePr>
            <a:graphicFrameLocks noGrp="1"/>
          </p:cNvGraphicFramePr>
          <p:nvPr>
            <p:extLst>
              <p:ext uri="{D42A27DB-BD31-4B8C-83A1-F6EECF244321}">
                <p14:modId xmlns:p14="http://schemas.microsoft.com/office/powerpoint/2010/main" val="4108194012"/>
              </p:ext>
            </p:extLst>
          </p:nvPr>
        </p:nvGraphicFramePr>
        <p:xfrm>
          <a:off x="6477000" y="2141045"/>
          <a:ext cx="4572000" cy="1772920"/>
        </p:xfrm>
        <a:graphic>
          <a:graphicData uri="http://schemas.openxmlformats.org/drawingml/2006/table">
            <a:tbl>
              <a:tblPr>
                <a:effectLst/>
              </a:tblPr>
              <a:tblGrid>
                <a:gridCol w="1524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tblGrid>
              <a:tr h="355600">
                <a:tc>
                  <a:txBody>
                    <a:bodyPr/>
                    <a:lstStyle/>
                    <a:p>
                      <a:pPr indent="0" algn="ctr">
                        <a:lnSpc>
                          <a:spcPct val="100000"/>
                        </a:lnSpc>
                        <a:defRPr/>
                      </a:pPr>
                      <a:r>
                        <a:rPr lang="en-US" sz="1300" b="1" i="0" u="none" strike="noStrike">
                          <a:solidFill>
                            <a:srgbClr val="0D47A1"/>
                          </a:solidFill>
                          <a:latin typeface="Noto Sans SC"/>
                          <a:ea typeface="Noto Sans SC"/>
                          <a:cs typeface="Noto Sans SC"/>
                          <a:sym typeface="Noto Sans SC"/>
                        </a:rPr>
                        <a:t>Field Name</a:t>
                      </a:r>
                      <a:endParaRPr lang="en-US" sz="1100"/>
                    </a:p>
                  </a:txBody>
                  <a:tcPr marL="101600" marR="101600" marT="101600" marB="101600">
                    <a:lnL>
                      <a:noFill/>
                    </a:lnL>
                    <a:lnR>
                      <a:noFill/>
                    </a:lnR>
                    <a:lnT>
                      <a:noFill/>
                    </a:lnT>
                    <a:lnB>
                      <a:noFill/>
                    </a:lnB>
                    <a:solidFill>
                      <a:srgbClr val="BBDEFB">
                        <a:alpha val="100000"/>
                      </a:srgbClr>
                    </a:solidFill>
                  </a:tcPr>
                </a:tc>
                <a:tc>
                  <a:txBody>
                    <a:bodyPr/>
                    <a:lstStyle/>
                    <a:p>
                      <a:pPr indent="0" algn="ctr">
                        <a:lnSpc>
                          <a:spcPct val="100000"/>
                        </a:lnSpc>
                        <a:defRPr/>
                      </a:pPr>
                      <a:r>
                        <a:rPr lang="en-US" sz="1300" b="1" i="0" u="none" strike="noStrike">
                          <a:solidFill>
                            <a:srgbClr val="0D47A1"/>
                          </a:solidFill>
                          <a:latin typeface="Noto Sans SC"/>
                          <a:ea typeface="Noto Sans SC"/>
                          <a:cs typeface="Noto Sans SC"/>
                          <a:sym typeface="Noto Sans SC"/>
                        </a:rPr>
                        <a:t>Missing Count</a:t>
                      </a:r>
                      <a:endParaRPr lang="en-US" sz="1100"/>
                    </a:p>
                  </a:txBody>
                  <a:tcPr marL="101600" marR="101600" marT="101600" marB="101600">
                    <a:lnL>
                      <a:noFill/>
                    </a:lnL>
                    <a:lnR>
                      <a:noFill/>
                    </a:lnR>
                    <a:lnT>
                      <a:noFill/>
                    </a:lnT>
                    <a:lnB>
                      <a:noFill/>
                    </a:lnB>
                    <a:solidFill>
                      <a:srgbClr val="BBDEFB">
                        <a:alpha val="100000"/>
                      </a:srgbClr>
                    </a:solidFill>
                  </a:tcPr>
                </a:tc>
                <a:tc>
                  <a:txBody>
                    <a:bodyPr/>
                    <a:lstStyle/>
                    <a:p>
                      <a:pPr indent="0" algn="ctr">
                        <a:lnSpc>
                          <a:spcPct val="100000"/>
                        </a:lnSpc>
                        <a:defRPr/>
                      </a:pPr>
                      <a:r>
                        <a:rPr lang="en-US" sz="1300" b="1" i="0" u="none" strike="noStrike">
                          <a:solidFill>
                            <a:srgbClr val="0D47A1"/>
                          </a:solidFill>
                          <a:latin typeface="Noto Sans SC"/>
                          <a:ea typeface="Noto Sans SC"/>
                          <a:cs typeface="Noto Sans SC"/>
                          <a:sym typeface="Noto Sans SC"/>
                        </a:rPr>
                        <a:t>Missing Rate</a:t>
                      </a:r>
                      <a:endParaRPr lang="en-US" sz="1100"/>
                    </a:p>
                  </a:txBody>
                  <a:tcPr marL="101600" marR="101600" marT="101600" marB="101600">
                    <a:lnL>
                      <a:noFill/>
                    </a:lnL>
                    <a:lnR>
                      <a:noFill/>
                    </a:lnR>
                    <a:lnT>
                      <a:noFill/>
                    </a:lnT>
                    <a:lnB>
                      <a:noFill/>
                    </a:lnB>
                    <a:solidFill>
                      <a:srgbClr val="BBDEFB">
                        <a:alpha val="100000"/>
                      </a:srgbClr>
                    </a:solidFill>
                  </a:tcPr>
                </a:tc>
                <a:extLst>
                  <a:ext uri="{0D108BD9-81ED-4DB2-BD59-A6C34878D82A}">
                    <a16:rowId xmlns:a16="http://schemas.microsoft.com/office/drawing/2014/main" val="10000"/>
                  </a:ext>
                </a:extLst>
              </a:tr>
              <a:tr h="355600">
                <a:tc>
                  <a:txBody>
                    <a:bodyPr/>
                    <a:lstStyle/>
                    <a:p>
                      <a:pPr indent="0" algn="ctr">
                        <a:lnSpc>
                          <a:spcPct val="100000"/>
                        </a:lnSpc>
                        <a:defRPr/>
                      </a:pPr>
                      <a:r>
                        <a:rPr lang="en-US" sz="1300" b="0" i="0" u="none" strike="noStrike" dirty="0">
                          <a:solidFill>
                            <a:srgbClr val="37474F"/>
                          </a:solidFill>
                          <a:latin typeface="Noto Sans SC"/>
                          <a:ea typeface="Noto Sans SC"/>
                          <a:cs typeface="Noto Sans SC"/>
                          <a:sym typeface="Noto Sans SC"/>
                        </a:rPr>
                        <a:t>salary</a:t>
                      </a:r>
                      <a:endParaRPr lang="en-US" sz="1100" dirty="0"/>
                    </a:p>
                  </a:txBody>
                  <a:tcPr marL="101600" marR="101600" marT="101600" marB="101600">
                    <a:lnL>
                      <a:noFill/>
                    </a:lnL>
                    <a:lnR>
                      <a:noFill/>
                    </a:lnR>
                    <a:lnT>
                      <a:noFill/>
                    </a:lnT>
                    <a:lnB>
                      <a:noFill/>
                    </a:lnB>
                    <a:solidFill>
                      <a:srgbClr val="ECF3FF">
                        <a:alpha val="100000"/>
                      </a:srgbClr>
                    </a:solidFill>
                  </a:tcPr>
                </a:tc>
                <a:tc>
                  <a:txBody>
                    <a:bodyPr/>
                    <a:lstStyle/>
                    <a:p>
                      <a:pPr indent="0" algn="ctr">
                        <a:lnSpc>
                          <a:spcPct val="100000"/>
                        </a:lnSpc>
                        <a:defRPr/>
                      </a:pPr>
                      <a:r>
                        <a:rPr lang="en-US" altLang="zh-CN" sz="1300" b="0" i="0" u="none" strike="noStrike" dirty="0">
                          <a:solidFill>
                            <a:srgbClr val="37474F"/>
                          </a:solidFill>
                          <a:latin typeface="Noto Sans SC"/>
                          <a:sym typeface="Noto Sans SC"/>
                        </a:rPr>
                        <a:t>23233</a:t>
                      </a:r>
                      <a:endParaRPr lang="en-US" sz="1100" dirty="0"/>
                    </a:p>
                  </a:txBody>
                  <a:tcPr marL="101600" marR="101600" marT="101600" marB="101600">
                    <a:lnL>
                      <a:noFill/>
                    </a:lnL>
                    <a:lnR>
                      <a:noFill/>
                    </a:lnR>
                    <a:lnT>
                      <a:noFill/>
                    </a:lnT>
                    <a:lnB>
                      <a:noFill/>
                    </a:lnB>
                    <a:solidFill>
                      <a:srgbClr val="ECF3FF">
                        <a:alpha val="100000"/>
                      </a:srgbClr>
                    </a:solidFill>
                  </a:tcPr>
                </a:tc>
                <a:tc>
                  <a:txBody>
                    <a:bodyPr/>
                    <a:lstStyle/>
                    <a:p>
                      <a:pPr indent="0" algn="ctr">
                        <a:lnSpc>
                          <a:spcPct val="100000"/>
                        </a:lnSpc>
                        <a:defRPr/>
                      </a:pPr>
                      <a:r>
                        <a:rPr lang="en-US" altLang="zh-CN" sz="1300" b="1" i="0" u="none" strike="noStrike" dirty="0">
                          <a:solidFill>
                            <a:srgbClr val="D81B60"/>
                          </a:solidFill>
                          <a:latin typeface="Noto Sans SC"/>
                          <a:sym typeface="Noto Sans SC"/>
                        </a:rPr>
                        <a:t>79.86%</a:t>
                      </a:r>
                      <a:endParaRPr lang="en-US" sz="1100" dirty="0"/>
                    </a:p>
                  </a:txBody>
                  <a:tcPr marL="101600" marR="101600" marT="101600" marB="101600">
                    <a:lnL>
                      <a:noFill/>
                    </a:lnL>
                    <a:lnR>
                      <a:noFill/>
                    </a:lnR>
                    <a:lnT>
                      <a:noFill/>
                    </a:lnT>
                    <a:lnB>
                      <a:noFill/>
                    </a:lnB>
                    <a:solidFill>
                      <a:srgbClr val="ECF3FF">
                        <a:alpha val="100000"/>
                      </a:srgbClr>
                    </a:solidFill>
                  </a:tcPr>
                </a:tc>
                <a:extLst>
                  <a:ext uri="{0D108BD9-81ED-4DB2-BD59-A6C34878D82A}">
                    <a16:rowId xmlns:a16="http://schemas.microsoft.com/office/drawing/2014/main" val="10001"/>
                  </a:ext>
                </a:extLst>
              </a:tr>
              <a:tr h="355600">
                <a:tc>
                  <a:txBody>
                    <a:bodyPr/>
                    <a:lstStyle/>
                    <a:p>
                      <a:pPr indent="0" algn="ctr">
                        <a:lnSpc>
                          <a:spcPct val="100000"/>
                        </a:lnSpc>
                        <a:defRPr/>
                      </a:pPr>
                      <a:r>
                        <a:rPr lang="en-US" sz="1300" b="0" i="0" u="none" strike="noStrike">
                          <a:solidFill>
                            <a:srgbClr val="37474F"/>
                          </a:solidFill>
                          <a:latin typeface="Noto Sans SC"/>
                          <a:ea typeface="Noto Sans SC"/>
                          <a:cs typeface="Noto Sans SC"/>
                          <a:sym typeface="Noto Sans SC"/>
                        </a:rPr>
                        <a:t>location</a:t>
                      </a:r>
                      <a:endParaRPr lang="en-US" sz="1100"/>
                    </a:p>
                  </a:txBody>
                  <a:tcPr marL="101600" marR="101600" marT="101600" marB="101600">
                    <a:lnL>
                      <a:noFill/>
                    </a:lnL>
                    <a:lnR>
                      <a:noFill/>
                    </a:lnR>
                    <a:lnT>
                      <a:noFill/>
                    </a:lnT>
                    <a:lnB>
                      <a:noFill/>
                    </a:lnB>
                    <a:solidFill>
                      <a:srgbClr val="FFFFFF">
                        <a:alpha val="100000"/>
                      </a:srgbClr>
                    </a:solidFill>
                  </a:tcPr>
                </a:tc>
                <a:tc>
                  <a:txBody>
                    <a:bodyPr/>
                    <a:lstStyle/>
                    <a:p>
                      <a:pPr indent="0" algn="ctr">
                        <a:lnSpc>
                          <a:spcPct val="100000"/>
                        </a:lnSpc>
                        <a:defRPr/>
                      </a:pPr>
                      <a:r>
                        <a:rPr lang="en-US" sz="1300" b="0" i="0" u="none" strike="noStrike">
                          <a:solidFill>
                            <a:srgbClr val="37474F"/>
                          </a:solidFill>
                          <a:latin typeface="Noto Sans SC"/>
                          <a:ea typeface="Noto Sans SC"/>
                          <a:cs typeface="Noto Sans SC"/>
                          <a:sym typeface="Noto Sans SC"/>
                        </a:rPr>
                        <a:t>0</a:t>
                      </a:r>
                      <a:endParaRPr lang="en-US" sz="1100"/>
                    </a:p>
                  </a:txBody>
                  <a:tcPr marL="101600" marR="101600" marT="101600" marB="101600">
                    <a:lnL>
                      <a:noFill/>
                    </a:lnL>
                    <a:lnR>
                      <a:noFill/>
                    </a:lnR>
                    <a:lnT>
                      <a:noFill/>
                    </a:lnT>
                    <a:lnB>
                      <a:noFill/>
                    </a:lnB>
                    <a:solidFill>
                      <a:srgbClr val="FFFFFF">
                        <a:alpha val="100000"/>
                      </a:srgbClr>
                    </a:solidFill>
                  </a:tcPr>
                </a:tc>
                <a:tc>
                  <a:txBody>
                    <a:bodyPr/>
                    <a:lstStyle/>
                    <a:p>
                      <a:pPr indent="0" algn="ctr">
                        <a:lnSpc>
                          <a:spcPct val="100000"/>
                        </a:lnSpc>
                        <a:defRPr/>
                      </a:pPr>
                      <a:r>
                        <a:rPr lang="en-US" sz="1300" b="1" i="0" u="none" strike="noStrike">
                          <a:solidFill>
                            <a:srgbClr val="388E3C"/>
                          </a:solidFill>
                          <a:latin typeface="Noto Sans SC"/>
                          <a:ea typeface="Noto Sans SC"/>
                          <a:cs typeface="Noto Sans SC"/>
                          <a:sym typeface="Noto Sans SC"/>
                        </a:rPr>
                        <a:t>0%</a:t>
                      </a:r>
                      <a:endParaRPr lang="en-US" sz="1100"/>
                    </a:p>
                  </a:txBody>
                  <a:tcPr marL="101600" marR="101600" marT="101600" marB="101600">
                    <a:lnL>
                      <a:noFill/>
                    </a:lnL>
                    <a:lnR>
                      <a:noFill/>
                    </a:lnR>
                    <a:lnT>
                      <a:noFill/>
                    </a:lnT>
                    <a:lnB>
                      <a:noFill/>
                    </a:lnB>
                    <a:solidFill>
                      <a:srgbClr val="FFFFFF">
                        <a:alpha val="100000"/>
                      </a:srgbClr>
                    </a:solidFill>
                  </a:tcPr>
                </a:tc>
                <a:extLst>
                  <a:ext uri="{0D108BD9-81ED-4DB2-BD59-A6C34878D82A}">
                    <a16:rowId xmlns:a16="http://schemas.microsoft.com/office/drawing/2014/main" val="10002"/>
                  </a:ext>
                </a:extLst>
              </a:tr>
              <a:tr h="355600">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panose="020B0604020202090204"/>
                        <a:buNone/>
                        <a:tabLst/>
                        <a:defRPr/>
                      </a:pPr>
                      <a:r>
                        <a:rPr lang="en-US" sz="1300" b="0" i="0" u="none" strike="noStrike" dirty="0">
                          <a:solidFill>
                            <a:srgbClr val="37474F"/>
                          </a:solidFill>
                          <a:latin typeface="Noto Sans SC"/>
                          <a:ea typeface="Noto Sans SC"/>
                          <a:cs typeface="Noto Sans SC"/>
                          <a:sym typeface="Noto Sans SC"/>
                        </a:rPr>
                        <a:t>Job posting time</a:t>
                      </a:r>
                      <a:r>
                        <a:rPr lang="en" altLang="zh-CN" sz="1100" dirty="0" err="1"/>
                        <a:t> (listedAt)</a:t>
                      </a:r>
                      <a:endParaRPr lang="en-US" sz="1100" dirty="0"/>
                    </a:p>
                  </a:txBody>
                  <a:tcPr marL="101600" marR="101600" marT="101600" marB="101600">
                    <a:lnL>
                      <a:noFill/>
                    </a:lnL>
                    <a:lnR>
                      <a:noFill/>
                    </a:lnR>
                    <a:lnT>
                      <a:noFill/>
                    </a:lnT>
                    <a:lnB>
                      <a:noFill/>
                    </a:lnB>
                    <a:solidFill>
                      <a:srgbClr val="ECF3FF">
                        <a:alpha val="100000"/>
                      </a:srgbClr>
                    </a:solidFill>
                  </a:tcPr>
                </a:tc>
                <a:tc>
                  <a:txBody>
                    <a:bodyPr/>
                    <a:lstStyle/>
                    <a:p>
                      <a:pPr indent="0" algn="ctr">
                        <a:lnSpc>
                          <a:spcPct val="100000"/>
                        </a:lnSpc>
                        <a:defRPr/>
                      </a:pPr>
                      <a:r>
                        <a:rPr lang="en-US" sz="1300" b="0" i="0" u="none" strike="noStrike">
                          <a:solidFill>
                            <a:srgbClr val="37474F"/>
                          </a:solidFill>
                          <a:latin typeface="Noto Sans SC"/>
                          <a:ea typeface="Noto Sans SC"/>
                          <a:cs typeface="Noto Sans SC"/>
                          <a:sym typeface="Noto Sans SC"/>
                        </a:rPr>
                        <a:t>0</a:t>
                      </a:r>
                      <a:endParaRPr lang="en-US" sz="1100"/>
                    </a:p>
                  </a:txBody>
                  <a:tcPr marL="101600" marR="101600" marT="101600" marB="101600">
                    <a:lnL>
                      <a:noFill/>
                    </a:lnL>
                    <a:lnR>
                      <a:noFill/>
                    </a:lnR>
                    <a:lnT>
                      <a:noFill/>
                    </a:lnT>
                    <a:lnB>
                      <a:noFill/>
                    </a:lnB>
                    <a:solidFill>
                      <a:srgbClr val="ECF3FF">
                        <a:alpha val="100000"/>
                      </a:srgbClr>
                    </a:solidFill>
                  </a:tcPr>
                </a:tc>
                <a:tc>
                  <a:txBody>
                    <a:bodyPr/>
                    <a:lstStyle/>
                    <a:p>
                      <a:pPr indent="0" algn="ctr">
                        <a:lnSpc>
                          <a:spcPct val="100000"/>
                        </a:lnSpc>
                        <a:defRPr/>
                      </a:pPr>
                      <a:r>
                        <a:rPr lang="en-US" sz="1300" b="1" i="0" u="none" strike="noStrike" dirty="0">
                          <a:solidFill>
                            <a:srgbClr val="388E3C"/>
                          </a:solidFill>
                          <a:latin typeface="Noto Sans SC"/>
                          <a:ea typeface="Noto Sans SC"/>
                          <a:cs typeface="Noto Sans SC"/>
                          <a:sym typeface="Noto Sans SC"/>
                        </a:rPr>
                        <a:t>0%</a:t>
                      </a:r>
                      <a:endParaRPr lang="en-US" sz="1100" dirty="0"/>
                    </a:p>
                  </a:txBody>
                  <a:tcPr marL="101600" marR="101600" marT="101600" marB="101600">
                    <a:lnL>
                      <a:noFill/>
                    </a:lnL>
                    <a:lnR>
                      <a:noFill/>
                    </a:lnR>
                    <a:lnT>
                      <a:noFill/>
                    </a:lnT>
                    <a:lnB>
                      <a:noFill/>
                    </a:lnB>
                    <a:solidFill>
                      <a:srgbClr val="ECF3FF">
                        <a:alpha val="100000"/>
                      </a:srgbClr>
                    </a:solidFill>
                  </a:tcPr>
                </a:tc>
                <a:extLst>
                  <a:ext uri="{0D108BD9-81ED-4DB2-BD59-A6C34878D82A}">
                    <a16:rowId xmlns:a16="http://schemas.microsoft.com/office/drawing/2014/main" val="10003"/>
                  </a:ext>
                </a:extLst>
              </a:tr>
            </a:tbl>
          </a:graphicData>
        </a:graphic>
      </p:graphicFrame>
      <p:sp>
        <p:nvSpPr>
          <p:cNvPr id="16" name="AutoShape 16"/>
          <p:cNvSpPr/>
          <p:nvPr/>
        </p:nvSpPr>
        <p:spPr>
          <a:xfrm>
            <a:off x="6479309" y="3822700"/>
            <a:ext cx="4572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dirty="0">
                <a:solidFill>
                  <a:srgbClr val="90A4AE"/>
                </a:solidFill>
                <a:latin typeface="Noto Sans SC"/>
                <a:ea typeface="Noto Sans SC"/>
                <a:cs typeface="Noto Sans SC"/>
                <a:sym typeface="Noto Sans SC"/>
              </a:rPr>
              <a:t>Outlier Check:</a:t>
            </a:r>
            <a:endParaRPr lang="en-US" sz="1100" dirty="0"/>
          </a:p>
        </p:txBody>
      </p:sp>
      <p:sp>
        <p:nvSpPr>
          <p:cNvPr id="17" name="AutoShape 17"/>
          <p:cNvSpPr/>
          <p:nvPr/>
        </p:nvSpPr>
        <p:spPr>
          <a:xfrm>
            <a:off x="6604000" y="4126581"/>
            <a:ext cx="4572000" cy="508000"/>
          </a:xfrm>
          <a:prstGeom prst="roundRect">
            <a:avLst>
              <a:gd name="adj" fmla="val 12500"/>
            </a:avLst>
          </a:prstGeom>
          <a:solidFill>
            <a:srgbClr val="ECF3FF">
              <a:alpha val="100000"/>
            </a:srgbClr>
          </a:solidFill>
          <a:ln w="25400" cap="flat" cmpd="sng">
            <a:noFill/>
            <a:prstDash val="solid"/>
            <a:round/>
          </a:ln>
        </p:spPr>
        <p:txBody>
          <a:bodyPr vert="horz" wrap="square" lIns="0" tIns="0" rIns="0" bIns="0" rtlCol="0" anchor="ctr" anchorCtr="0"/>
          <a:lstStyle/>
          <a:p>
            <a:pPr algn="ctr">
              <a:defRPr/>
            </a:pPr>
            <a:endParaRPr/>
          </a:p>
        </p:txBody>
      </p:sp>
      <p:pic>
        <p:nvPicPr>
          <p:cNvPr id="18" name="Picture 18"/>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731000" y="4152900"/>
            <a:ext cx="203200" cy="203200"/>
          </a:xfrm>
          <a:prstGeom prst="rect">
            <a:avLst/>
          </a:prstGeom>
        </p:spPr>
      </p:pic>
      <p:sp>
        <p:nvSpPr>
          <p:cNvPr id="19" name="AutoShape 19"/>
          <p:cNvSpPr/>
          <p:nvPr/>
        </p:nvSpPr>
        <p:spPr>
          <a:xfrm>
            <a:off x="6985000" y="40894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1" i="0" u="none" strike="noStrike" dirty="0">
                <a:solidFill>
                  <a:srgbClr val="37474F"/>
                </a:solidFill>
                <a:latin typeface="Noto Sans SC"/>
                <a:ea typeface="Noto Sans SC"/>
                <a:cs typeface="Noto Sans SC"/>
                <a:sym typeface="Noto Sans SC"/>
              </a:rPr>
              <a:t>Time Anomalies:</a:t>
            </a:r>
            <a:r>
              <a:rPr lang="zh-CN" altLang="en-US" sz="1100" b="1" i="0" u="none" strike="noStrike" dirty="0">
                <a:solidFill>
                  <a:srgbClr val="37474F"/>
                </a:solidFill>
                <a:latin typeface="Noto Sans SC"/>
                <a:ea typeface="Noto Sans SC"/>
                <a:cs typeface="Noto Sans SC"/>
                <a:sym typeface="Noto Sans SC"/>
              </a:rPr>
              <a:t> </a:t>
            </a:r>
            <a:r>
              <a:rPr lang="en-US" sz="1100" b="0" i="0" u="none" strike="noStrike" dirty="0">
                <a:solidFill>
                  <a:srgbClr val="37474F"/>
                </a:solidFill>
                <a:latin typeface="Noto Sans SC"/>
                <a:ea typeface="Noto Sans SC"/>
                <a:cs typeface="Noto Sans SC"/>
                <a:sym typeface="Noto Sans SC"/>
              </a:rPr>
              <a:t>Some postings were published outside the main November 2025 to February 2026 analysis period.</a:t>
            </a:r>
            <a:endParaRPr lang="en-US" sz="1100" dirty="0"/>
          </a:p>
        </p:txBody>
      </p:sp>
      <p:sp>
        <p:nvSpPr>
          <p:cNvPr id="20" name="AutoShape 20"/>
          <p:cNvSpPr/>
          <p:nvPr/>
        </p:nvSpPr>
        <p:spPr>
          <a:xfrm>
            <a:off x="6604000" y="4684549"/>
            <a:ext cx="4572000" cy="508000"/>
          </a:xfrm>
          <a:prstGeom prst="roundRect">
            <a:avLst>
              <a:gd name="adj" fmla="val 12500"/>
            </a:avLst>
          </a:prstGeom>
          <a:solidFill>
            <a:srgbClr val="ECF3FF">
              <a:alpha val="100000"/>
            </a:srgbClr>
          </a:solidFill>
          <a:ln w="25400" cap="flat" cmpd="sng">
            <a:noFill/>
            <a:prstDash val="solid"/>
            <a:round/>
          </a:ln>
        </p:spPr>
        <p:txBody>
          <a:bodyPr vert="horz" wrap="square" lIns="0" tIns="0" rIns="0" bIns="0" rtlCol="0" anchor="ctr" anchorCtr="0"/>
          <a:lstStyle/>
          <a:p>
            <a:pPr algn="ctr">
              <a:defRPr/>
            </a:pPr>
            <a:endParaRPr/>
          </a:p>
        </p:txBody>
      </p:sp>
      <p:pic>
        <p:nvPicPr>
          <p:cNvPr id="21" name="Picture 21"/>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731000" y="4724400"/>
            <a:ext cx="203200" cy="203200"/>
          </a:xfrm>
          <a:prstGeom prst="rect">
            <a:avLst/>
          </a:prstGeom>
        </p:spPr>
      </p:pic>
      <p:sp>
        <p:nvSpPr>
          <p:cNvPr id="22" name="AutoShape 22"/>
          <p:cNvSpPr/>
          <p:nvPr/>
        </p:nvSpPr>
        <p:spPr>
          <a:xfrm>
            <a:off x="6985000" y="46609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1" i="0" u="none" strike="noStrike" dirty="0">
                <a:solidFill>
                  <a:srgbClr val="37474F"/>
                </a:solidFill>
                <a:latin typeface="Noto Sans SC"/>
                <a:ea typeface="Noto Sans SC"/>
                <a:cs typeface="Noto Sans SC"/>
                <a:sym typeface="Noto Sans SC"/>
              </a:rPr>
              <a:t>Category </a:t>
            </a:r>
            <a:r>
              <a:rPr lang="en-US" sz="1100" b="1" i="0" u="none" strike="noStrike" dirty="0" err="1">
                <a:solidFill>
                  <a:srgbClr val="37474F"/>
                </a:solidFill>
                <a:latin typeface="Noto Sans SC"/>
                <a:ea typeface="Noto Sans SC"/>
                <a:cs typeface="Noto Sans SC"/>
                <a:sym typeface="Noto Sans SC"/>
              </a:rPr>
              <a:t>Anomalies:</a:t>
            </a:r>
            <a:r>
              <a:rPr lang="en-US" sz="1100" b="0" i="0" u="none" strike="noStrike" dirty="0" err="1">
                <a:solidFill>
                  <a:srgbClr val="37474F"/>
                </a:solidFill>
                <a:latin typeface="Noto Sans SC"/>
                <a:ea typeface="Noto Sans SC"/>
                <a:cs typeface="Noto Sans SC"/>
                <a:sym typeface="Noto Sans SC"/>
              </a:rPr>
              <a:t>No</a:t>
            </a:r>
            <a:r>
              <a:rPr lang="en-US" sz="1100" b="0" i="0" u="none" strike="noStrike" dirty="0">
                <a:solidFill>
                  <a:srgbClr val="37474F"/>
                </a:solidFill>
                <a:latin typeface="Noto Sans SC"/>
                <a:ea typeface="Noto Sans SC"/>
                <a:cs typeface="Noto Sans SC"/>
                <a:sym typeface="Noto Sans SC"/>
              </a:rPr>
              <a:t> obvious category issues were found, and the location and classification fields are generally well standardized.</a:t>
            </a:r>
            <a:endParaRPr lang="en-US" sz="1100" dirty="0"/>
          </a:p>
        </p:txBody>
      </p:sp>
      <p:sp>
        <p:nvSpPr>
          <p:cNvPr id="23" name="AutoShape 23"/>
          <p:cNvSpPr/>
          <p:nvPr/>
        </p:nvSpPr>
        <p:spPr>
          <a:xfrm>
            <a:off x="6604000" y="5250355"/>
            <a:ext cx="4572000" cy="508000"/>
          </a:xfrm>
          <a:prstGeom prst="roundRect">
            <a:avLst>
              <a:gd name="adj" fmla="val 12500"/>
            </a:avLst>
          </a:prstGeom>
          <a:solidFill>
            <a:srgbClr val="ECF3FF">
              <a:alpha val="100000"/>
            </a:srgbClr>
          </a:solidFill>
          <a:ln w="25400" cap="flat" cmpd="sng">
            <a:noFill/>
            <a:prstDash val="solid"/>
            <a:round/>
          </a:ln>
        </p:spPr>
        <p:txBody>
          <a:bodyPr vert="horz" wrap="square" lIns="0" tIns="0" rIns="0" bIns="0" rtlCol="0" anchor="ctr" anchorCtr="0"/>
          <a:lstStyle/>
          <a:p>
            <a:pPr algn="ctr">
              <a:defRPr/>
            </a:pPr>
            <a:endParaRPr/>
          </a:p>
        </p:txBody>
      </p:sp>
      <p:pic>
        <p:nvPicPr>
          <p:cNvPr id="24" name="Picture 2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731000" y="5295900"/>
            <a:ext cx="203200" cy="203200"/>
          </a:xfrm>
          <a:prstGeom prst="rect">
            <a:avLst/>
          </a:prstGeom>
        </p:spPr>
      </p:pic>
      <p:sp>
        <p:nvSpPr>
          <p:cNvPr id="25" name="AutoShape 25"/>
          <p:cNvSpPr/>
          <p:nvPr/>
        </p:nvSpPr>
        <p:spPr>
          <a:xfrm>
            <a:off x="6985000" y="52324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1" i="0" u="none" strike="noStrike" dirty="0">
                <a:solidFill>
                  <a:srgbClr val="37474F"/>
                </a:solidFill>
                <a:latin typeface="Noto Sans SC"/>
                <a:ea typeface="Noto Sans SC"/>
                <a:cs typeface="Noto Sans SC"/>
                <a:sym typeface="Noto Sans SC"/>
              </a:rPr>
              <a:t>Salary </a:t>
            </a:r>
            <a:r>
              <a:rPr lang="en-US" sz="1100" b="1" i="0" u="none" strike="noStrike" dirty="0" err="1">
                <a:solidFill>
                  <a:srgbClr val="37474F"/>
                </a:solidFill>
                <a:latin typeface="Noto Sans SC"/>
                <a:ea typeface="Noto Sans SC"/>
                <a:cs typeface="Noto Sans SC"/>
                <a:sym typeface="Noto Sans SC"/>
              </a:rPr>
              <a:t>Anomalies:</a:t>
            </a:r>
            <a:r>
              <a:rPr lang="en-US" sz="1100" b="0" i="0" u="none" strike="noStrike" dirty="0" err="1">
                <a:solidFill>
                  <a:srgbClr val="37474F"/>
                </a:solidFill>
                <a:latin typeface="Noto Sans SC"/>
                <a:ea typeface="Noto Sans SC"/>
                <a:cs typeface="Noto Sans SC"/>
                <a:sym typeface="Noto Sans SC"/>
              </a:rPr>
              <a:t>Some potential outliers appear in the salary-related fields</a:t>
            </a:r>
            <a:r>
              <a:rPr lang="en-US" sz="1100" b="0" i="0" u="none" strike="noStrike" dirty="0">
                <a:solidFill>
                  <a:srgbClr val="37474F"/>
                </a:solidFill>
                <a:latin typeface="Noto Sans SC"/>
                <a:ea typeface="Noto Sans SC"/>
                <a:cs typeface="Noto Sans SC"/>
                <a:sym typeface="Noto Sans SC"/>
              </a:rPr>
              <a:t>, so extra cleaning is needed before doing detailed salary analysis.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19050" y="19050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35306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D47A1"/>
                </a:solidFill>
                <a:latin typeface="Noto Sans SC"/>
                <a:ea typeface="Noto Sans SC"/>
                <a:cs typeface="Noto Sans SC"/>
                <a:sym typeface="Noto Sans SC"/>
              </a:rPr>
              <a:t>Data Distribution and Summary</a:t>
            </a:r>
            <a:endParaRPr lang="en-US" sz="1100"/>
          </a:p>
        </p:txBody>
      </p:sp>
      <p:sp>
        <p:nvSpPr>
          <p:cNvPr id="5" name="AutoShape 5"/>
          <p:cNvSpPr/>
          <p:nvPr/>
        </p:nvSpPr>
        <p:spPr>
          <a:xfrm>
            <a:off x="762000" y="12700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a:solidFill>
                  <a:srgbClr val="0D47A1"/>
                </a:solidFill>
                <a:latin typeface="Noto Sans SC"/>
                <a:ea typeface="Noto Sans SC"/>
                <a:cs typeface="Noto Sans SC"/>
                <a:sym typeface="Noto Sans SC"/>
              </a:rPr>
              <a:t>▍Basic Data Distribution Overview</a:t>
            </a:r>
            <a:endParaRPr lang="en-US" sz="1100" dirty="0"/>
          </a:p>
        </p:txBody>
      </p:sp>
      <p:sp>
        <p:nvSpPr>
          <p:cNvPr id="6" name="AutoShape 6"/>
          <p:cNvSpPr/>
          <p:nvPr/>
        </p:nvSpPr>
        <p:spPr>
          <a:xfrm>
            <a:off x="762000" y="1682750"/>
            <a:ext cx="3556000" cy="1714500"/>
          </a:xfrm>
          <a:prstGeom prst="roundRect">
            <a:avLst>
              <a:gd name="adj" fmla="val 9090"/>
            </a:avLst>
          </a:prstGeom>
          <a:solidFill>
            <a:srgbClr val="FFFFFF">
              <a:alpha val="100000"/>
            </a:srgbClr>
          </a:solidFill>
          <a:ln w="12700" cap="flat" cmpd="sng">
            <a:solidFill>
              <a:srgbClr val="BBDEFB">
                <a:alpha val="100000"/>
              </a:srgbClr>
            </a:solidFill>
            <a:prstDash val="solid"/>
            <a:round/>
          </a:ln>
          <a:effectLst>
            <a:outerShdw blurRad="127000" dist="50800" dir="5400000" algn="tl" rotWithShape="0">
              <a:srgbClr val="0D47A1">
                <a:alpha val="10000"/>
              </a:srgbClr>
            </a:outerShdw>
          </a:effectLst>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1905000"/>
            <a:ext cx="406400" cy="406400"/>
          </a:xfrm>
          <a:prstGeom prst="rect">
            <a:avLst/>
          </a:prstGeom>
        </p:spPr>
      </p:pic>
      <p:sp>
        <p:nvSpPr>
          <p:cNvPr id="8" name="AutoShape 8"/>
          <p:cNvSpPr/>
          <p:nvPr/>
        </p:nvSpPr>
        <p:spPr>
          <a:xfrm>
            <a:off x="1460500" y="18796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dirty="0">
                <a:solidFill>
                  <a:srgbClr val="0D47A1"/>
                </a:solidFill>
                <a:latin typeface="Noto Sans SC"/>
                <a:ea typeface="Noto Sans SC"/>
                <a:cs typeface="Noto Sans SC"/>
                <a:sym typeface="Noto Sans SC"/>
              </a:rPr>
              <a:t>Industry &amp; Time Distribution</a:t>
            </a:r>
            <a:endParaRPr lang="en-US" sz="1100" dirty="0"/>
          </a:p>
        </p:txBody>
      </p:sp>
      <p:sp>
        <p:nvSpPr>
          <p:cNvPr id="9" name="AutoShape 9"/>
          <p:cNvSpPr/>
          <p:nvPr/>
        </p:nvSpPr>
        <p:spPr>
          <a:xfrm>
            <a:off x="952500" y="2280526"/>
            <a:ext cx="3238498" cy="830974"/>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dirty="0">
                <a:solidFill>
                  <a:srgbClr val="455A64"/>
                </a:solidFill>
                <a:latin typeface="Noto Sans SC"/>
                <a:ea typeface="Noto Sans SC"/>
                <a:cs typeface="Noto Sans SC"/>
                <a:sym typeface="Noto Sans SC"/>
              </a:rPr>
              <a:t>The IT and finance datasets are similar in size, with 16,410 IT records and 12,682 finance records. Most source files focus on November 2025 to February 2026, but some listedAt records are earlier than this period.</a:t>
            </a:r>
            <a:endParaRPr lang="en-US" sz="1100" dirty="0"/>
          </a:p>
        </p:txBody>
      </p:sp>
      <p:sp>
        <p:nvSpPr>
          <p:cNvPr id="10" name="AutoShape 10"/>
          <p:cNvSpPr/>
          <p:nvPr/>
        </p:nvSpPr>
        <p:spPr>
          <a:xfrm>
            <a:off x="4419600" y="1778000"/>
            <a:ext cx="3390900" cy="1683626"/>
          </a:xfrm>
          <a:prstGeom prst="roundRect">
            <a:avLst>
              <a:gd name="adj" fmla="val 9090"/>
            </a:avLst>
          </a:prstGeom>
          <a:solidFill>
            <a:srgbClr val="FFFFFF">
              <a:alpha val="100000"/>
            </a:srgbClr>
          </a:solidFill>
          <a:ln w="12700" cap="flat" cmpd="sng">
            <a:solidFill>
              <a:srgbClr val="BBDEFB">
                <a:alpha val="100000"/>
              </a:srgbClr>
            </a:solidFill>
            <a:prstDash val="solid"/>
            <a:round/>
          </a:ln>
          <a:effectLst>
            <a:outerShdw blurRad="127000" dist="50800" dir="5400000" algn="tl" rotWithShape="0">
              <a:srgbClr val="0D47A1">
                <a:alpha val="10000"/>
              </a:srgbClr>
            </a:outerShdw>
          </a:effectLst>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572000" y="1905000"/>
            <a:ext cx="406400" cy="406400"/>
          </a:xfrm>
          <a:prstGeom prst="rect">
            <a:avLst/>
          </a:prstGeom>
        </p:spPr>
      </p:pic>
      <p:sp>
        <p:nvSpPr>
          <p:cNvPr id="12" name="AutoShape 12"/>
          <p:cNvSpPr/>
          <p:nvPr/>
        </p:nvSpPr>
        <p:spPr>
          <a:xfrm>
            <a:off x="5080000" y="18796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D47A1"/>
                </a:solidFill>
                <a:latin typeface="Noto Sans SC"/>
                <a:ea typeface="Noto Sans SC"/>
                <a:cs typeface="Noto Sans SC"/>
                <a:sym typeface="Noto Sans SC"/>
              </a:rPr>
              <a:t>Employment Type Distribution</a:t>
            </a:r>
            <a:endParaRPr lang="en-US" sz="1100"/>
          </a:p>
        </p:txBody>
      </p:sp>
      <p:sp>
        <p:nvSpPr>
          <p:cNvPr id="13" name="AutoShape 13"/>
          <p:cNvSpPr/>
          <p:nvPr/>
        </p:nvSpPr>
        <p:spPr>
          <a:xfrm>
            <a:off x="4572000" y="2286000"/>
            <a:ext cx="3048000" cy="762000"/>
          </a:xfrm>
          <a:prstGeom prst="rect">
            <a:avLst/>
          </a:prstGeom>
          <a:noFill/>
          <a:ln w="12700" cap="flat" cmpd="sng">
            <a:noFill/>
            <a:prstDash val="solid"/>
            <a:round/>
          </a:ln>
        </p:spPr>
        <p:txBody>
          <a:bodyPr vert="horz" wrap="square" lIns="0" tIns="0" rIns="0" bIns="0" rtlCol="0" anchor="ctr" anchorCtr="0"/>
          <a:lstStyle/>
          <a:p>
            <a:pPr>
              <a:defRPr/>
            </a:pPr>
            <a:r>
              <a:rPr lang="en-US" sz="1200" b="0" i="0" u="none" strike="noStrike" dirty="0">
                <a:solidFill>
                  <a:srgbClr val="455A64"/>
                </a:solidFill>
                <a:latin typeface="Noto Sans SC"/>
                <a:ea typeface="Noto Sans SC"/>
                <a:cs typeface="Noto Sans SC"/>
                <a:sym typeface="Noto Sans SC"/>
              </a:rPr>
              <a:t>Full-time jobs clearly dominate the dataset, making up about 94.2% of all postings. Part-time and other work types account for only a small share.</a:t>
            </a:r>
          </a:p>
        </p:txBody>
      </p:sp>
      <p:sp>
        <p:nvSpPr>
          <p:cNvPr id="14" name="AutoShape 14"/>
          <p:cNvSpPr/>
          <p:nvPr/>
        </p:nvSpPr>
        <p:spPr>
          <a:xfrm>
            <a:off x="8001000" y="1714500"/>
            <a:ext cx="3429000" cy="1397000"/>
          </a:xfrm>
          <a:prstGeom prst="roundRect">
            <a:avLst>
              <a:gd name="adj" fmla="val 9090"/>
            </a:avLst>
          </a:prstGeom>
          <a:solidFill>
            <a:srgbClr val="FFFFFF">
              <a:alpha val="100000"/>
            </a:srgbClr>
          </a:solidFill>
          <a:ln w="12700" cap="flat" cmpd="sng">
            <a:solidFill>
              <a:srgbClr val="BBDEFB">
                <a:alpha val="100000"/>
              </a:srgbClr>
            </a:solidFill>
            <a:prstDash val="solid"/>
            <a:round/>
          </a:ln>
          <a:effectLst>
            <a:outerShdw blurRad="127000" dist="50800" dir="5400000" algn="tl" rotWithShape="0">
              <a:srgbClr val="0D47A1">
                <a:alpha val="10000"/>
              </a:srgbClr>
            </a:outerShdw>
          </a:effectLst>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191500" y="1905000"/>
            <a:ext cx="406400" cy="406400"/>
          </a:xfrm>
          <a:prstGeom prst="rect">
            <a:avLst/>
          </a:prstGeom>
        </p:spPr>
      </p:pic>
      <p:sp>
        <p:nvSpPr>
          <p:cNvPr id="16" name="AutoShape 16"/>
          <p:cNvSpPr/>
          <p:nvPr/>
        </p:nvSpPr>
        <p:spPr>
          <a:xfrm>
            <a:off x="8699500" y="18796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D47A1"/>
                </a:solidFill>
                <a:latin typeface="Noto Sans SC"/>
                <a:ea typeface="Noto Sans SC"/>
                <a:cs typeface="Noto Sans SC"/>
                <a:sym typeface="Noto Sans SC"/>
              </a:rPr>
              <a:t>Work Location Distribution</a:t>
            </a:r>
            <a:endParaRPr lang="en-US" sz="1100"/>
          </a:p>
        </p:txBody>
      </p:sp>
      <p:sp>
        <p:nvSpPr>
          <p:cNvPr id="17" name="AutoShape 17"/>
          <p:cNvSpPr/>
          <p:nvPr/>
        </p:nvSpPr>
        <p:spPr>
          <a:xfrm>
            <a:off x="8191500" y="2286000"/>
            <a:ext cx="3048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dirty="0">
                <a:solidFill>
                  <a:srgbClr val="455A64"/>
                </a:solidFill>
                <a:latin typeface="Noto Sans SC"/>
                <a:ea typeface="Noto Sans SC"/>
                <a:cs typeface="Noto Sans SC"/>
                <a:sym typeface="Noto Sans SC"/>
              </a:rPr>
              <a:t>Job opportunities are mainly concentrated in major business areas, especially Central and Tsim Sha Tsui, showing a clear geographic concentration.</a:t>
            </a:r>
            <a:endParaRPr lang="en-US" sz="1100" dirty="0"/>
          </a:p>
        </p:txBody>
      </p:sp>
      <p:sp>
        <p:nvSpPr>
          <p:cNvPr id="18" name="AutoShape 18"/>
          <p:cNvSpPr/>
          <p:nvPr/>
        </p:nvSpPr>
        <p:spPr>
          <a:xfrm>
            <a:off x="762000" y="34290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a:solidFill>
                  <a:srgbClr val="0D47A1"/>
                </a:solidFill>
                <a:latin typeface="Noto Sans SC"/>
                <a:ea typeface="Noto Sans SC"/>
                <a:cs typeface="Noto Sans SC"/>
                <a:sym typeface="Noto Sans SC"/>
              </a:rPr>
              <a:t>▍Data Exploration Core Summary</a:t>
            </a:r>
            <a:endParaRPr lang="en-US" sz="1100" dirty="0"/>
          </a:p>
        </p:txBody>
      </p:sp>
      <p:sp>
        <p:nvSpPr>
          <p:cNvPr id="19" name="AutoShape 19"/>
          <p:cNvSpPr/>
          <p:nvPr/>
        </p:nvSpPr>
        <p:spPr>
          <a:xfrm>
            <a:off x="712731" y="3805707"/>
            <a:ext cx="3478267" cy="1905000"/>
          </a:xfrm>
          <a:prstGeom prst="roundRect">
            <a:avLst>
              <a:gd name="adj" fmla="val 9090"/>
            </a:avLst>
          </a:prstGeom>
          <a:solidFill>
            <a:srgbClr val="F0F7FF">
              <a:alpha val="100000"/>
            </a:srgbClr>
          </a:solidFill>
          <a:ln w="12700" cap="flat" cmpd="sng">
            <a:solidFill>
              <a:srgbClr val="0D47A1">
                <a:alpha val="20000"/>
              </a:srgbClr>
            </a:solidFill>
            <a:prstDash val="solid"/>
            <a:round/>
          </a:ln>
        </p:spPr>
        <p:txBody>
          <a:bodyPr vert="horz" wrap="square" lIns="63500" tIns="63500" rIns="63500" bIns="63500" rtlCol="0" anchor="ctr"/>
          <a:lstStyle/>
          <a:p>
            <a:pPr algn="ctr">
              <a:defRPr/>
            </a:pPr>
            <a:endParaRPr lang="zh-CN" altLang="en-US" dirty="0"/>
          </a:p>
        </p:txBody>
      </p:sp>
      <p:pic>
        <p:nvPicPr>
          <p:cNvPr id="20" name="Picture 20"/>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52500" y="4064000"/>
            <a:ext cx="355600" cy="355600"/>
          </a:xfrm>
          <a:prstGeom prst="rect">
            <a:avLst/>
          </a:prstGeom>
        </p:spPr>
      </p:pic>
      <p:sp>
        <p:nvSpPr>
          <p:cNvPr id="21" name="AutoShape 21"/>
          <p:cNvSpPr/>
          <p:nvPr/>
        </p:nvSpPr>
        <p:spPr>
          <a:xfrm>
            <a:off x="1397000" y="40386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dirty="0">
                <a:solidFill>
                  <a:srgbClr val="0D47A1"/>
                </a:solidFill>
                <a:latin typeface="Noto Sans SC"/>
                <a:ea typeface="Noto Sans SC"/>
                <a:cs typeface="Noto Sans SC"/>
                <a:sym typeface="Noto Sans SC"/>
              </a:rPr>
              <a:t>Data Completeness</a:t>
            </a:r>
            <a:endParaRPr lang="en-US" sz="1100" dirty="0"/>
          </a:p>
        </p:txBody>
      </p:sp>
      <p:sp>
        <p:nvSpPr>
          <p:cNvPr id="22" name="AutoShape 22"/>
          <p:cNvSpPr/>
          <p:nvPr/>
        </p:nvSpPr>
        <p:spPr>
          <a:xfrm>
            <a:off x="774262" y="4285374"/>
            <a:ext cx="3353238" cy="1035926"/>
          </a:xfrm>
          <a:prstGeom prst="rect">
            <a:avLst/>
          </a:prstGeom>
          <a:noFill/>
          <a:ln w="12700" cap="flat" cmpd="sng">
            <a:noFill/>
            <a:prstDash val="solid"/>
            <a:round/>
          </a:ln>
        </p:spPr>
        <p:txBody>
          <a:bodyPr vert="horz" wrap="square" lIns="0" tIns="0" rIns="0" bIns="0" rtlCol="0" anchor="ctr" anchorCtr="0"/>
          <a:lstStyle/>
          <a:p>
            <a:pPr indent="0" algn="just">
              <a:lnSpc>
                <a:spcPct val="100000"/>
              </a:lnSpc>
              <a:defRPr/>
            </a:pPr>
            <a:r>
              <a:rPr lang="en" altLang="zh-CN" sz="1100" dirty="0">
                <a:latin typeface="Noto Sans Batak" panose="020B0502040504020204" pitchFamily="34" charset="0"/>
                <a:cs typeface="Noto Nastaliq Urdu" panose="020B0502040504020204" pitchFamily="34" charset="-78"/>
              </a:rPr>
              <a:t>Important fields such as location and publish time are fully complete. The salary field has a missing rate of 79.86%, so this dataset is more suitable for analysing recruitment scale, timing, and location than for detailed salary analysis</a:t>
            </a:r>
            <a:r>
              <a:rPr lang="en" altLang="zh-CN" sz="1600" dirty="0">
                <a:latin typeface="Noto Sans Batak" panose="020B0502040504020204" pitchFamily="34" charset="0"/>
                <a:cs typeface="Noto Nastaliq Urdu" panose="020B0502040504020204" pitchFamily="34" charset="-78"/>
              </a:rPr>
              <a:t>.</a:t>
            </a:r>
          </a:p>
        </p:txBody>
      </p:sp>
      <p:sp>
        <p:nvSpPr>
          <p:cNvPr id="23" name="AutoShape 23"/>
          <p:cNvSpPr/>
          <p:nvPr/>
        </p:nvSpPr>
        <p:spPr>
          <a:xfrm>
            <a:off x="4240267" y="3805707"/>
            <a:ext cx="3594100" cy="1905000"/>
          </a:xfrm>
          <a:prstGeom prst="roundRect">
            <a:avLst>
              <a:gd name="adj" fmla="val 9090"/>
            </a:avLst>
          </a:prstGeom>
          <a:solidFill>
            <a:srgbClr val="F0F7FF">
              <a:alpha val="100000"/>
            </a:srgbClr>
          </a:solidFill>
          <a:ln w="12700" cap="flat" cmpd="sng">
            <a:solidFill>
              <a:srgbClr val="0D47A1">
                <a:alpha val="20000"/>
              </a:srgbClr>
            </a:solidFill>
            <a:prstDash val="solid"/>
            <a:round/>
          </a:ln>
        </p:spPr>
        <p:txBody>
          <a:bodyPr vert="horz" wrap="square" lIns="63500" tIns="63500" rIns="63500" bIns="63500" rtlCol="0" anchor="ctr"/>
          <a:lstStyle/>
          <a:p>
            <a:pPr algn="ctr">
              <a:defRPr/>
            </a:pPr>
            <a:endParaRPr dirty="0"/>
          </a:p>
        </p:txBody>
      </p:sp>
      <p:pic>
        <p:nvPicPr>
          <p:cNvPr id="24" name="Picture 24"/>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4572000" y="4064000"/>
            <a:ext cx="355600" cy="355600"/>
          </a:xfrm>
          <a:prstGeom prst="rect">
            <a:avLst/>
          </a:prstGeom>
        </p:spPr>
      </p:pic>
      <p:sp>
        <p:nvSpPr>
          <p:cNvPr id="25" name="AutoShape 25"/>
          <p:cNvSpPr/>
          <p:nvPr/>
        </p:nvSpPr>
        <p:spPr>
          <a:xfrm>
            <a:off x="5016500" y="40386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D47A1"/>
                </a:solidFill>
                <a:latin typeface="Noto Sans SC"/>
                <a:ea typeface="Noto Sans SC"/>
                <a:cs typeface="Noto Sans SC"/>
                <a:sym typeface="Noto Sans SC"/>
              </a:rPr>
              <a:t>Data Validity</a:t>
            </a:r>
            <a:endParaRPr lang="en-US" sz="1100"/>
          </a:p>
        </p:txBody>
      </p:sp>
      <p:sp>
        <p:nvSpPr>
          <p:cNvPr id="26" name="AutoShape 26"/>
          <p:cNvSpPr/>
          <p:nvPr/>
        </p:nvSpPr>
        <p:spPr>
          <a:xfrm>
            <a:off x="4572000" y="4445000"/>
            <a:ext cx="3048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dirty="0">
                <a:solidFill>
                  <a:srgbClr val="455A64"/>
                </a:solidFill>
                <a:latin typeface="Noto Sans SC"/>
                <a:ea typeface="Noto Sans SC"/>
                <a:cs typeface="Noto Sans SC"/>
                <a:sym typeface="Noto Sans SC"/>
              </a:rPr>
              <a:t>Overall, the data quality is good enough for exploratory analysis, but the time range and salary information still need to be interpreted carefully.</a:t>
            </a:r>
            <a:endParaRPr lang="en-US" sz="1100" dirty="0"/>
          </a:p>
        </p:txBody>
      </p:sp>
      <p:sp>
        <p:nvSpPr>
          <p:cNvPr id="27" name="AutoShape 27"/>
          <p:cNvSpPr/>
          <p:nvPr/>
        </p:nvSpPr>
        <p:spPr>
          <a:xfrm>
            <a:off x="7919426" y="3777807"/>
            <a:ext cx="3721100" cy="1905000"/>
          </a:xfrm>
          <a:prstGeom prst="roundRect">
            <a:avLst>
              <a:gd name="adj" fmla="val 9090"/>
            </a:avLst>
          </a:prstGeom>
          <a:solidFill>
            <a:srgbClr val="F0F7FF">
              <a:alpha val="100000"/>
            </a:srgbClr>
          </a:solidFill>
          <a:ln w="12700" cap="flat" cmpd="sng">
            <a:solidFill>
              <a:srgbClr val="0D47A1">
                <a:alpha val="20000"/>
              </a:srgbClr>
            </a:solidFill>
            <a:prstDash val="solid"/>
            <a:round/>
          </a:ln>
        </p:spPr>
        <p:txBody>
          <a:bodyPr vert="horz" wrap="square" lIns="63500" tIns="63500" rIns="63500" bIns="63500" rtlCol="0" anchor="ctr"/>
          <a:lstStyle/>
          <a:p>
            <a:pPr algn="ctr">
              <a:defRPr/>
            </a:pPr>
            <a:endParaRPr/>
          </a:p>
        </p:txBody>
      </p:sp>
      <p:pic>
        <p:nvPicPr>
          <p:cNvPr id="28" name="Picture 28"/>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191500" y="4064000"/>
            <a:ext cx="355600" cy="355600"/>
          </a:xfrm>
          <a:prstGeom prst="rect">
            <a:avLst/>
          </a:prstGeom>
        </p:spPr>
      </p:pic>
      <p:sp>
        <p:nvSpPr>
          <p:cNvPr id="29" name="AutoShape 29"/>
          <p:cNvSpPr/>
          <p:nvPr/>
        </p:nvSpPr>
        <p:spPr>
          <a:xfrm>
            <a:off x="8636000" y="40386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dirty="0">
                <a:solidFill>
                  <a:srgbClr val="0D47A1"/>
                </a:solidFill>
                <a:latin typeface="Noto Sans SC"/>
                <a:ea typeface="Noto Sans SC"/>
                <a:cs typeface="Noto Sans SC"/>
                <a:sym typeface="Noto Sans SC"/>
              </a:rPr>
              <a:t>Data Characteristics</a:t>
            </a:r>
            <a:endParaRPr lang="en-US" sz="1100" dirty="0"/>
          </a:p>
        </p:txBody>
      </p:sp>
      <p:sp>
        <p:nvSpPr>
          <p:cNvPr id="30" name="AutoShape 30"/>
          <p:cNvSpPr/>
          <p:nvPr/>
        </p:nvSpPr>
        <p:spPr>
          <a:xfrm>
            <a:off x="8059465" y="4274864"/>
            <a:ext cx="3413234" cy="1046436"/>
          </a:xfrm>
          <a:prstGeom prst="rect">
            <a:avLst/>
          </a:prstGeom>
          <a:noFill/>
          <a:ln w="12700" cap="flat" cmpd="sng">
            <a:noFill/>
            <a:prstDash val="solid"/>
            <a:round/>
          </a:ln>
        </p:spPr>
        <p:txBody>
          <a:bodyPr vert="horz" wrap="square" lIns="0" tIns="0" rIns="0" bIns="0" rtlCol="0" anchor="ctr" anchorCtr="0"/>
          <a:lstStyle/>
          <a:p>
            <a:pPr indent="0" algn="just">
              <a:lnSpc>
                <a:spcPct val="100000"/>
              </a:lnSpc>
              <a:defRPr/>
            </a:pPr>
            <a:r>
              <a:rPr lang="en-US" sz="1100" b="0" i="0" u="none" strike="noStrike" dirty="0">
                <a:solidFill>
                  <a:srgbClr val="455A64"/>
                </a:solidFill>
                <a:latin typeface="Noto Sans SC"/>
                <a:ea typeface="Noto Sans SC"/>
                <a:cs typeface="Noto Sans SC"/>
                <a:sym typeface="Noto Sans SC"/>
              </a:rPr>
              <a:t>Overall, Hong Kong IT and finance recruitment in this dataset is dominated by full-time roles and concentrated in core business districts. For time-based analysis, it is better to rely on the actual listedAt distribution instead of assuming a continuous upward trend.</a:t>
            </a:r>
          </a:p>
        </p:txBody>
      </p:sp>
      <p:sp>
        <p:nvSpPr>
          <p:cNvPr id="31" name="AutoShape 31"/>
          <p:cNvSpPr/>
          <p:nvPr/>
        </p:nvSpPr>
        <p:spPr>
          <a:xfrm>
            <a:off x="0" y="6781800"/>
            <a:ext cx="12192000" cy="76200"/>
          </a:xfrm>
          <a:prstGeom prst="roundRect">
            <a:avLst>
              <a:gd name="adj" fmla="val 0"/>
            </a:avLst>
          </a:prstGeom>
          <a:solidFill>
            <a:srgbClr val="0D47A1">
              <a:alpha val="100000"/>
            </a:srgbClr>
          </a:solidFill>
          <a:ln w="25400" cap="flat" cmpd="sng">
            <a:noFill/>
            <a:prstDash val="solid"/>
            <a:round/>
          </a:ln>
        </p:spPr>
        <p:txBody>
          <a:bodyPr vert="horz" wrap="square" lIns="63500" tIns="63500" rIns="63500" bIns="63500" rtlCol="0" anchor="ctr"/>
          <a:lstStyle/>
          <a:p>
            <a:pPr algn="ctr">
              <a:defRPr/>
            </a:pPr>
            <a:endParaRPr/>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TotalTime>
  <Words>725</Words>
  <Application>Microsoft Macintosh PowerPoint</Application>
  <PresentationFormat>宽屏</PresentationFormat>
  <Paragraphs>63</Paragraphs>
  <Slides>3</Slides>
  <Notes>3</Notes>
  <HiddenSlides>0</HiddenSlides>
  <MMClips>0</MMClips>
  <ScaleCrop>false</ScaleCrop>
  <HeadingPairs>
    <vt:vector size="6" baseType="variant">
      <vt:variant>
        <vt:lpstr>已用的字体</vt:lpstr>
      </vt:variant>
      <vt:variant>
        <vt:i4>3</vt:i4>
      </vt:variant>
      <vt:variant>
        <vt:lpstr>主题</vt:lpstr>
      </vt:variant>
      <vt:variant>
        <vt:i4>2</vt:i4>
      </vt:variant>
      <vt:variant>
        <vt:lpstr>幻灯片标题</vt:lpstr>
      </vt:variant>
      <vt:variant>
        <vt:i4>3</vt:i4>
      </vt:variant>
    </vt:vector>
  </HeadingPairs>
  <TitlesOfParts>
    <vt:vector size="8" baseType="lpstr">
      <vt:lpstr>Noto Sans SC</vt:lpstr>
      <vt:lpstr>Arial</vt:lpstr>
      <vt:lpstr>Noto Sans Batak</vt:lpstr>
      <vt:lpstr>Office 主题​​</vt:lpstr>
      <vt:lpstr>默认主题</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LI Yingdong</cp:lastModifiedBy>
  <cp:revision>8</cp:revision>
  <dcterms:created xsi:type="dcterms:W3CDTF">2026-03-18T12:15:36Z</dcterms:created>
  <dcterms:modified xsi:type="dcterms:W3CDTF">2026-04-15T10:58:00Z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132937552A5D6EF76897BA691B1F8F4C_43</vt:lpwstr>
  </property>
  <property fmtid="{D5CDD505-2E9C-101B-9397-08002B2CF9AE}" pid="3" name="KSOProductBuildVer">
    <vt:lpwstr>2052-7.2.2.8955</vt:lpwstr>
  </property>
</Properties>
</file>