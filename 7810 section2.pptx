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2"/>
  </p:sldMasterIdLst>
  <p:notesMasterIdLst>
    <p:notesMasterId r:id="rId6"/>
  </p:notesMasterIdLst>
  <p:sldIdLst>
    <p:sldId id="256" r:id="rId3"/>
    <p:sldId id="257" r:id="rId4"/>
    <p:sldId id="258" r:id="rId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defaultTextStyle>
  <p:extLst>
    <p:ext uri="{EFAFB233-063F-42B5-8137-9DF3F51BA10A}">
      <p15:sldGuideLst xmlns:p15="http://schemas.microsoft.com/office/powerpoint/2012/main">
        <p15:guide id="1" orient="horz" pos="1620"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7"/>
    <p:restoredTop sz="94681"/>
  </p:normalViewPr>
  <p:slideViewPr>
    <p:cSldViewPr snapToGrid="0" showGuides="1">
      <p:cViewPr varScale="1">
        <p:scale>
          <a:sx n="122" d="100"/>
          <a:sy n="122" d="100"/>
        </p:scale>
        <p:origin x="224" y="24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presProps" Target="presProp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3.xml"/><Relationship Id="rId10"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01.04.2026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Hello everyone, today I will present our exploration and analysis report on IT and finance industry recruitment data in Hong Kong. This report aims to reveal the current characteristics and trends of the recruitment market in these two core industries in Hong Kong through in-depth data mining.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First, let's take a look at the basic data situation. The data for this analysis is sourced from Hong Kong recruitment platforms, covering IT and Finance industry job postings from November 2025 to February 2026, totaling 2,626 records.</a:t>
            </a:r>
          </a:p>
          <a:p>
            <a:pPr indent="0" algn="l">
              <a:lnSpc>
                <a:spcPct val="100000"/>
              </a:lnSpc>
            </a:pPr>
            <a:r>
              <a:rPr lang="en-US" sz="1400" b="0" i="0" u="none" strike="noStrike">
                <a:solidFill>
                  <a:srgbClr val="000000"/>
                </a:solidFill>
              </a:rPr>
              <a:t>Regarding data quality, core business fields such as job title, location, and posting time are very complete. However, the salary information has a high missing rate, which is a common phenomenon in recruitment data. Additionally, we checked for outliers in the data and found no significant anomalies in terms of time, category, or salary, indicating that the data quality is generally reliable.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Next, let's analyze the data distribution. In terms of industry distribution, the recruitment scales of IT and Finance are quite similar. In terms of time, recruitment volume shows a steady upward trend. In terms of employment type, full-time positions account for an absolute majority. Work locations are highly concentrated in Hong Kong's core business districts. Finally, we summarize this data exploration: the overall data integrity and validity are good, clearly showing the characteristics of Hong Kong's IT and Finance industry recruitment market, laying a solid foundation for subsequent in-depth analysis. That's the end of my presentation, thank you all.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标题幻灯片" type="title">
  <p:cSld name="TITLE">
    <p:spTree>
      <p:nvGrpSpPr>
        <p:cNvPr id="1" name="Shape 11"/>
        <p:cNvGrpSpPr/>
        <p:nvPr/>
      </p:nvGrpSpPr>
      <p:grpSpPr>
        <a:xfrm>
          <a:off x="0" y="0"/>
          <a:ext cx="0" cy="0"/>
          <a:chOff x="0" y="0"/>
          <a:chExt cx="0" cy="0"/>
        </a:xfrm>
      </p:grpSpPr>
      <p:sp>
        <p:nvSpPr>
          <p:cNvPr id="12" name="Shape 30"/>
          <p:cNvSpPr txBox="1">
            <a:spLocks noGrp="1"/>
          </p:cNvSpPr>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9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3" name="Shape 31"/>
          <p:cNvSpPr txBox="1">
            <a:spLocks noGrp="1"/>
          </p:cNvSpPr>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sp>
        <p:nvSpPr>
          <p:cNvPr id="14" name="Shape 3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5" name="Shape 3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6" name="Shape 3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标题和内容" type="obj">
  <p:cSld name="OBJECT">
    <p:spTree>
      <p:nvGrpSpPr>
        <p:cNvPr id="1" name="Shape 17"/>
        <p:cNvGrpSpPr/>
        <p:nvPr/>
      </p:nvGrpSpPr>
      <p:grpSpPr>
        <a:xfrm>
          <a:off x="0" y="0"/>
          <a:ext cx="0" cy="0"/>
          <a:chOff x="0" y="0"/>
          <a:chExt cx="0" cy="0"/>
        </a:xfrm>
      </p:grpSpPr>
      <p:sp>
        <p:nvSpPr>
          <p:cNvPr id="18" name="Shape 54"/>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9" name="Shape 55"/>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 name="Shape 5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1" name="Shape 5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2" name="Shape 5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节标题" type="secHead">
  <p:cSld name="SECTION_HEADER">
    <p:spTree>
      <p:nvGrpSpPr>
        <p:cNvPr id="1" name="Shape 23"/>
        <p:cNvGrpSpPr/>
        <p:nvPr/>
      </p:nvGrpSpPr>
      <p:grpSpPr>
        <a:xfrm>
          <a:off x="0" y="0"/>
          <a:ext cx="0" cy="0"/>
          <a:chOff x="0" y="0"/>
          <a:chExt cx="0" cy="0"/>
        </a:xfrm>
      </p:grpSpPr>
      <p:sp>
        <p:nvSpPr>
          <p:cNvPr id="24" name="Shape 59"/>
          <p:cNvSpPr txBox="1">
            <a:spLocks noGrp="1"/>
          </p:cNvSpPr>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9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5" name="Shape 60"/>
          <p:cNvSpPr txBox="1">
            <a:spLocks noGrp="1"/>
          </p:cNvSpPr>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Shape 6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7" name="Shape 6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8" name="Shape 6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两栏内容" type="twoObj">
  <p:cSld name="TWO_OBJECTS">
    <p:spTree>
      <p:nvGrpSpPr>
        <p:cNvPr id="1" name="Shape 29"/>
        <p:cNvGrpSpPr/>
        <p:nvPr/>
      </p:nvGrpSpPr>
      <p:grpSpPr>
        <a:xfrm>
          <a:off x="0" y="0"/>
          <a:ext cx="0" cy="0"/>
          <a:chOff x="0" y="0"/>
          <a:chExt cx="0" cy="0"/>
        </a:xfrm>
      </p:grpSpPr>
      <p:sp>
        <p:nvSpPr>
          <p:cNvPr id="30" name="Shape 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31" name="Shape 10"/>
          <p:cNvSpPr txBox="1">
            <a:spLocks noGrp="1"/>
          </p:cNvSpPr>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Shape 11"/>
          <p:cNvSpPr txBox="1">
            <a:spLocks noGrp="1"/>
          </p:cNvSpPr>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Shape 1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34" name="Shape 1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35" name="Shape 1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较" type="twoTxTwoObj">
  <p:cSld name="TWO_OBJECTS_WITH_TEXT">
    <p:spTree>
      <p:nvGrpSpPr>
        <p:cNvPr id="1" name="Shape 36"/>
        <p:cNvGrpSpPr/>
        <p:nvPr/>
      </p:nvGrpSpPr>
      <p:grpSpPr>
        <a:xfrm>
          <a:off x="0" y="0"/>
          <a:ext cx="0" cy="0"/>
          <a:chOff x="0" y="0"/>
          <a:chExt cx="0" cy="0"/>
        </a:xfrm>
      </p:grpSpPr>
      <p:sp>
        <p:nvSpPr>
          <p:cNvPr id="37" name="Shape 35"/>
          <p:cNvSpPr txBox="1">
            <a:spLocks noGrp="1"/>
          </p:cNvSpPr>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38" name="Shape 36"/>
          <p:cNvSpPr txBox="1">
            <a:spLocks noGrp="1"/>
          </p:cNvSpPr>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Shape 37"/>
          <p:cNvSpPr txBox="1">
            <a:spLocks noGrp="1"/>
          </p:cNvSpPr>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Shape 38"/>
          <p:cNvSpPr txBox="1">
            <a:spLocks noGrp="1"/>
          </p:cNvSpPr>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Shape 39"/>
          <p:cNvSpPr txBox="1">
            <a:spLocks noGrp="1"/>
          </p:cNvSpPr>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Shape 40"/>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3" name="Shape 41"/>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4" name="Shape 42"/>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仅标题" type="titleOnly">
  <p:cSld name="TITLE_ONLY">
    <p:spTree>
      <p:nvGrpSpPr>
        <p:cNvPr id="1" name="Shape 45"/>
        <p:cNvGrpSpPr/>
        <p:nvPr/>
      </p:nvGrpSpPr>
      <p:grpSpPr>
        <a:xfrm>
          <a:off x="0" y="0"/>
          <a:ext cx="0" cy="0"/>
          <a:chOff x="0" y="0"/>
          <a:chExt cx="0" cy="0"/>
        </a:xfrm>
      </p:grpSpPr>
      <p:sp>
        <p:nvSpPr>
          <p:cNvPr id="46" name="Shape 20"/>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47" name="Shape 2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8" name="Shape 2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49" name="Shape 2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空白" type="blank">
  <p:cSld name="BLANK">
    <p:spTree>
      <p:nvGrpSpPr>
        <p:cNvPr id="1" name="Shape 50"/>
        <p:cNvGrpSpPr/>
        <p:nvPr/>
      </p:nvGrpSpPr>
      <p:grpSpPr>
        <a:xfrm>
          <a:off x="0" y="0"/>
          <a:ext cx="0" cy="0"/>
          <a:chOff x="0" y="0"/>
          <a:chExt cx="0" cy="0"/>
        </a:xfrm>
      </p:grpSpPr>
      <p:sp>
        <p:nvSpPr>
          <p:cNvPr id="51" name="Shape 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2" name="Shape 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3" name="Shape 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内容与标题" type="objTx">
  <p:cSld name="OBJECT_WITH_CAPTION_TEXT">
    <p:spTree>
      <p:nvGrpSpPr>
        <p:cNvPr id="1" name="Shape 54"/>
        <p:cNvGrpSpPr/>
        <p:nvPr/>
      </p:nvGrpSpPr>
      <p:grpSpPr>
        <a:xfrm>
          <a:off x="0" y="0"/>
          <a:ext cx="0" cy="0"/>
          <a:chOff x="0" y="0"/>
          <a:chExt cx="0" cy="0"/>
        </a:xfrm>
      </p:grpSpPr>
      <p:sp>
        <p:nvSpPr>
          <p:cNvPr id="55" name="Shape 43"/>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9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56" name="Shape 44"/>
          <p:cNvSpPr txBox="1">
            <a:spLocks noGrp="1"/>
          </p:cNvSpPr>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7" name="Shape 45"/>
          <p:cNvSpPr txBox="1">
            <a:spLocks noGrp="1"/>
          </p:cNvSpPr>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8" name="Shape 4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59" name="Shape 4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0" name="Shape 4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图片与标题" type="picTx">
  <p:cSld name="PICTURE_WITH_CAPTION_TEXT">
    <p:spTree>
      <p:nvGrpSpPr>
        <p:cNvPr id="1" name="Shape 61"/>
        <p:cNvGrpSpPr/>
        <p:nvPr/>
      </p:nvGrpSpPr>
      <p:grpSpPr>
        <a:xfrm>
          <a:off x="0" y="0"/>
          <a:ext cx="0" cy="0"/>
          <a:chOff x="0" y="0"/>
          <a:chExt cx="0" cy="0"/>
        </a:xfrm>
      </p:grpSpPr>
      <p:sp>
        <p:nvSpPr>
          <p:cNvPr id="62" name="Shape 24"/>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9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63" name="Shape 25"/>
          <p:cNvSpPr>
            <a:spLocks noGrp="1"/>
          </p:cNvSpPr>
          <p:nvPr>
            <p:ph type="pic" idx="2"/>
          </p:nvPr>
        </p:nvSpPr>
        <p:spPr>
          <a:xfrm>
            <a:off x="3887391" y="740569"/>
            <a:ext cx="4629150" cy="3655219"/>
          </a:xfrm>
          <a:prstGeom prst="rect">
            <a:avLst/>
          </a:prstGeom>
          <a:noFill/>
          <a:ln>
            <a:noFill/>
          </a:ln>
        </p:spPr>
      </p:sp>
      <p:sp>
        <p:nvSpPr>
          <p:cNvPr id="64" name="Shape 26"/>
          <p:cNvSpPr txBox="1">
            <a:spLocks noGrp="1"/>
          </p:cNvSpPr>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5" name="Shape 27"/>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6" name="Shape 2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67" name="Shape 2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标题和竖排文字" type="vertTx">
  <p:cSld name="VERTICAL_TEXT">
    <p:spTree>
      <p:nvGrpSpPr>
        <p:cNvPr id="1" name="Shape 68"/>
        <p:cNvGrpSpPr/>
        <p:nvPr/>
      </p:nvGrpSpPr>
      <p:grpSpPr>
        <a:xfrm>
          <a:off x="0" y="0"/>
          <a:ext cx="0" cy="0"/>
          <a:chOff x="0" y="0"/>
          <a:chExt cx="0" cy="0"/>
        </a:xfrm>
      </p:grpSpPr>
      <p:sp>
        <p:nvSpPr>
          <p:cNvPr id="69" name="Shape 4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0" name="Shape 50"/>
          <p:cNvSpPr txBox="1">
            <a:spLocks noGrp="1"/>
          </p:cNvSpPr>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1" name="Shape 5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2" name="Shape 5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3" name="Shape 5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竖排标题与文本" type="vertTitleAndTx">
  <p:cSld name="VERTICAL_TITLE_AND_VERTICAL_TEXT">
    <p:spTree>
      <p:nvGrpSpPr>
        <p:cNvPr id="1" name="Shape 74"/>
        <p:cNvGrpSpPr/>
        <p:nvPr/>
      </p:nvGrpSpPr>
      <p:grpSpPr>
        <a:xfrm>
          <a:off x="0" y="0"/>
          <a:ext cx="0" cy="0"/>
          <a:chOff x="0" y="0"/>
          <a:chExt cx="0" cy="0"/>
        </a:xfrm>
      </p:grpSpPr>
      <p:sp>
        <p:nvSpPr>
          <p:cNvPr id="75" name="Shape 15"/>
          <p:cNvSpPr txBox="1">
            <a:spLocks noGrp="1"/>
          </p:cNvSpPr>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6" name="Shape 16"/>
          <p:cNvSpPr txBox="1">
            <a:spLocks noGrp="1"/>
          </p:cNvSpPr>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7" name="Shape 17"/>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8" name="Shape 1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9" name="Shape 1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Shape 1"/>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90204"/>
              <a:buNone/>
              <a:defRPr sz="3300" b="0" i="0" u="none" strike="noStrike" cap="none">
                <a:solidFill>
                  <a:schemeClr val="dk1"/>
                </a:solidFill>
                <a:latin typeface="Arial" panose="020B0604020202090204"/>
                <a:ea typeface="Arial" panose="020B0604020202090204"/>
                <a:cs typeface="Arial" panose="020B0604020202090204"/>
                <a:sym typeface="Arial" panose="020B060402020209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a:endParaRPr/>
          </a:p>
        </p:txBody>
      </p:sp>
      <p:sp>
        <p:nvSpPr>
          <p:cNvPr id="7" name="Shape 2"/>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90204"/>
              <a:buChar char="•"/>
              <a:defRPr sz="2100" b="0" i="0" u="none" strike="noStrike" cap="none">
                <a:solidFill>
                  <a:schemeClr val="dk1"/>
                </a:solidFill>
                <a:latin typeface="Arial" panose="020B0604020202090204"/>
                <a:ea typeface="Arial" panose="020B0604020202090204"/>
                <a:cs typeface="Arial" panose="020B0604020202090204"/>
                <a:sym typeface="Arial" panose="020B0604020202090204"/>
              </a:defRPr>
            </a:lvl1pPr>
            <a:lvl2pPr marL="914400" marR="0" lvl="1" indent="-342900" algn="l" rtl="0">
              <a:lnSpc>
                <a:spcPct val="90000"/>
              </a:lnSpc>
              <a:spcBef>
                <a:spcPts val="400"/>
              </a:spcBef>
              <a:spcAft>
                <a:spcPts val="0"/>
              </a:spcAft>
              <a:buClr>
                <a:schemeClr val="dk1"/>
              </a:buClr>
              <a:buSzPts val="1800"/>
              <a:buFont typeface="Arial" panose="020B0604020202090204"/>
              <a:buChar char="•"/>
              <a:defRPr sz="1800" b="0" i="0" u="none" strike="noStrike" cap="none">
                <a:solidFill>
                  <a:schemeClr val="dk1"/>
                </a:solidFill>
                <a:latin typeface="Arial" panose="020B0604020202090204"/>
                <a:ea typeface="Arial" panose="020B0604020202090204"/>
                <a:cs typeface="Arial" panose="020B0604020202090204"/>
                <a:sym typeface="Arial" panose="020B0604020202090204"/>
              </a:defRPr>
            </a:lvl2pPr>
            <a:lvl3pPr marL="1371600" marR="0" lvl="2" indent="-323850" algn="l" rtl="0">
              <a:lnSpc>
                <a:spcPct val="90000"/>
              </a:lnSpc>
              <a:spcBef>
                <a:spcPts val="400"/>
              </a:spcBef>
              <a:spcAft>
                <a:spcPts val="0"/>
              </a:spcAft>
              <a:buClr>
                <a:schemeClr val="dk1"/>
              </a:buClr>
              <a:buSzPts val="1500"/>
              <a:buFont typeface="Arial" panose="020B0604020202090204"/>
              <a:buChar char="•"/>
              <a:defRPr sz="1500" b="0" i="0" u="none" strike="noStrike" cap="none">
                <a:solidFill>
                  <a:schemeClr val="dk1"/>
                </a:solidFill>
                <a:latin typeface="Arial" panose="020B0604020202090204"/>
                <a:ea typeface="Arial" panose="020B0604020202090204"/>
                <a:cs typeface="Arial" panose="020B0604020202090204"/>
                <a:sym typeface="Arial" panose="020B0604020202090204"/>
              </a:defRPr>
            </a:lvl3pPr>
            <a:lvl4pPr marL="1828800" marR="0" lvl="3"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4pPr>
            <a:lvl5pPr marL="2286000" marR="0" lvl="4"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5pPr>
            <a:lvl6pPr marL="2743200" marR="0" lvl="5"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6pPr>
            <a:lvl7pPr marL="3200400" marR="0" lvl="6"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7pPr>
            <a:lvl8pPr marL="3657600" marR="0" lvl="7"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8pPr>
            <a:lvl9pPr marL="4114800" marR="0" lvl="8"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9pPr>
          </a:lstStyle>
          <a:p>
            <a:endParaRPr/>
          </a:p>
        </p:txBody>
      </p:sp>
      <p:sp>
        <p:nvSpPr>
          <p:cNvPr id="8" name="Shape 3"/>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1pPr>
            <a:lvl2pPr marR="0" lvl="1"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2pPr>
            <a:lvl3pPr marR="0" lvl="2"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3pPr>
            <a:lvl4pPr marR="0" lvl="3"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4pPr>
            <a:lvl5pPr marR="0" lvl="4"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5pPr>
            <a:lvl6pPr marR="0" lvl="5"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6pPr>
            <a:lvl7pPr marR="0" lvl="6"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7pPr>
            <a:lvl8pPr marR="0" lvl="7"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8pPr>
            <a:lvl9pPr marR="0" lvl="8"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9pPr>
          </a:lstStyle>
          <a:p>
            <a:endParaRPr/>
          </a:p>
        </p:txBody>
      </p:sp>
      <p:sp>
        <p:nvSpPr>
          <p:cNvPr id="9" name="Shape 4"/>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1pPr>
            <a:lvl2pPr marR="0" lvl="1"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2pPr>
            <a:lvl3pPr marR="0" lvl="2"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3pPr>
            <a:lvl4pPr marR="0" lvl="3"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4pPr>
            <a:lvl5pPr marR="0" lvl="4"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5pPr>
            <a:lvl6pPr marR="0" lvl="5"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6pPr>
            <a:lvl7pPr marR="0" lvl="6"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7pPr>
            <a:lvl8pPr marR="0" lvl="7"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8pPr>
            <a:lvl9pPr marR="0" lvl="8"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9pPr>
          </a:lstStyle>
          <a:p>
            <a:endParaRPr/>
          </a:p>
        </p:txBody>
      </p:sp>
      <p:sp>
        <p:nvSpPr>
          <p:cNvPr id="10" name="Shape 5"/>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1pPr>
            <a:lvl2pPr marL="0" marR="0" lvl="1"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2pPr>
            <a:lvl3pPr marL="0" marR="0" lvl="2"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3pPr>
            <a:lvl4pPr marL="0" marR="0" lvl="3"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4pPr>
            <a:lvl5pPr marL="0" marR="0" lvl="4"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5pPr>
            <a:lvl6pPr marL="0" marR="0" lvl="5"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6pPr>
            <a:lvl7pPr marL="0" marR="0" lvl="6"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7pPr>
            <a:lvl8pPr marL="0" marR="0" lvl="7"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8pPr>
            <a:lvl9pPr marL="0" marR="0" lvl="8"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9pPr>
          </a:lstStyle>
          <a:p>
            <a:pPr marL="0" lvl="0" indent="0" algn="r" rtl="0">
              <a:spcBef>
                <a:spcPts val="0"/>
              </a:spcBef>
              <a:spcAft>
                <a:spcPts val="0"/>
              </a:spcAft>
              <a:buNone/>
            </a:pPr>
            <a:fld id="{00000000-1234-1234-1234-123412341234}" type="slidenum">
              <a:rPr lang="en-US" altLang="zh-CN"/>
              <a:t>‹#›</a:t>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2.xml"/><Relationship Id="rId5" Type="http://schemas.openxmlformats.org/officeDocument/2006/relationships/image" Target="../media/image3.sv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jpeg"/><Relationship Id="rId7" Type="http://schemas.openxmlformats.org/officeDocument/2006/relationships/image" Target="../media/image8.svg"/><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image" Target="../media/image7.png"/><Relationship Id="rId5" Type="http://schemas.openxmlformats.org/officeDocument/2006/relationships/image" Target="../media/image6.svg"/><Relationship Id="rId4" Type="http://schemas.openxmlformats.org/officeDocument/2006/relationships/image" Target="../media/image5.png"/><Relationship Id="rId9" Type="http://schemas.openxmlformats.org/officeDocument/2006/relationships/image" Target="../media/image10.svg"/></Relationships>
</file>

<file path=ppt/slides/_rels/slide3.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svg"/><Relationship Id="rId3" Type="http://schemas.openxmlformats.org/officeDocument/2006/relationships/image" Target="../media/image11.jpeg"/><Relationship Id="rId7" Type="http://schemas.openxmlformats.org/officeDocument/2006/relationships/image" Target="../media/image15.svg"/><Relationship Id="rId12"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14.png"/><Relationship Id="rId11" Type="http://schemas.openxmlformats.org/officeDocument/2006/relationships/image" Target="../media/image19.svg"/><Relationship Id="rId5" Type="http://schemas.openxmlformats.org/officeDocument/2006/relationships/image" Target="../media/image13.svg"/><Relationship Id="rId15" Type="http://schemas.openxmlformats.org/officeDocument/2006/relationships/image" Target="../media/image23.sv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svg"/><Relationship Id="rId1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47A1">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294290"/>
            <a:ext cx="12192000" cy="6858000"/>
          </a:xfrm>
          <a:prstGeom prst="roundRect">
            <a:avLst>
              <a:gd name="adj" fmla="val 0"/>
            </a:avLst>
          </a:prstGeom>
          <a:solidFill>
            <a:srgbClr val="0D47A1">
              <a:alpha val="60000"/>
            </a:srgbClr>
          </a:solidFill>
          <a:ln w="25400" cap="flat" cmpd="sng">
            <a:noFill/>
            <a:prstDash val="solid"/>
            <a:round/>
          </a:ln>
        </p:spPr>
        <p:txBody>
          <a:bodyPr vert="horz" wrap="square" lIns="63500" tIns="63500" rIns="63500" bIns="63500" rtlCol="0" anchor="ctr"/>
          <a:lstStyle/>
          <a:p>
            <a:pPr algn="ctr">
              <a:defRPr/>
            </a:pPr>
            <a:endParaRPr/>
          </a:p>
        </p:txBody>
      </p:sp>
      <p:sp>
        <p:nvSpPr>
          <p:cNvPr id="4" name="AutoShape 4"/>
          <p:cNvSpPr/>
          <p:nvPr/>
        </p:nvSpPr>
        <p:spPr>
          <a:xfrm>
            <a:off x="0" y="0"/>
            <a:ext cx="12192000" cy="76200"/>
          </a:xfrm>
          <a:prstGeom prst="roundRect">
            <a:avLst>
              <a:gd name="adj" fmla="val 0"/>
            </a:avLst>
          </a:prstGeom>
          <a:solidFill>
            <a:srgbClr val="BBDEFB">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5" name="AutoShape 5"/>
          <p:cNvSpPr/>
          <p:nvPr/>
        </p:nvSpPr>
        <p:spPr>
          <a:xfrm>
            <a:off x="1016000" y="3492500"/>
            <a:ext cx="10160000" cy="762000"/>
          </a:xfrm>
          <a:prstGeom prst="rect">
            <a:avLst/>
          </a:prstGeom>
          <a:noFill/>
          <a:ln w="12700" cap="flat" cmpd="sng">
            <a:noFill/>
            <a:prstDash val="solid"/>
            <a:round/>
          </a:ln>
        </p:spPr>
        <p:txBody>
          <a:bodyPr vert="horz" wrap="none" lIns="0" tIns="0" rIns="0" bIns="0" rtlCol="0" anchor="ctr" anchorCtr="0"/>
          <a:lstStyle/>
          <a:p>
            <a:pPr indent="0" algn="ctr">
              <a:lnSpc>
                <a:spcPct val="125000"/>
              </a:lnSpc>
              <a:defRPr/>
            </a:pPr>
            <a:r>
              <a:rPr lang="en-US" sz="2400" b="1" i="0" u="none" strike="noStrike" dirty="0">
                <a:solidFill>
                  <a:srgbClr val="FFFFFF"/>
                </a:solidFill>
                <a:latin typeface="Noto Sans SC"/>
                <a:ea typeface="Noto Sans SC"/>
                <a:cs typeface="Noto Sans SC"/>
                <a:sym typeface="Noto Sans SC"/>
              </a:rPr>
              <a:t>Data Exploration and Analysis </a:t>
            </a:r>
            <a:endParaRPr lang="en-US" sz="2400" b="1" dirty="0">
              <a:solidFill>
                <a:srgbClr val="FFFFFF"/>
              </a:solidFill>
              <a:latin typeface="Noto Sans SC"/>
              <a:ea typeface="Noto Sans SC"/>
              <a:cs typeface="Noto Sans SC"/>
              <a:sym typeface="Noto Sans SC"/>
            </a:endParaRPr>
          </a:p>
          <a:p>
            <a:pPr indent="0" algn="ctr">
              <a:lnSpc>
                <a:spcPct val="125000"/>
              </a:lnSpc>
              <a:defRPr/>
            </a:pPr>
            <a:r>
              <a:rPr lang="en-US" sz="2400" b="1" i="0" u="none" strike="noStrike" dirty="0">
                <a:solidFill>
                  <a:srgbClr val="FFFFFF"/>
                </a:solidFill>
                <a:latin typeface="Noto Sans SC"/>
                <a:ea typeface="Noto Sans SC"/>
                <a:cs typeface="Noto Sans SC"/>
                <a:sym typeface="Noto Sans SC"/>
              </a:rPr>
              <a:t> Li </a:t>
            </a:r>
            <a:r>
              <a:rPr lang="en-US" sz="2400" b="1" i="0" u="none" strike="noStrike" dirty="0" err="1">
                <a:solidFill>
                  <a:srgbClr val="FFFFFF"/>
                </a:solidFill>
                <a:latin typeface="Noto Sans SC"/>
                <a:ea typeface="Noto Sans SC"/>
                <a:cs typeface="Noto Sans SC"/>
                <a:sym typeface="Noto Sans SC"/>
              </a:rPr>
              <a:t>Yingdong</a:t>
            </a:r>
            <a:r>
              <a:rPr lang="en-US" sz="2400" b="1" i="0" u="none" strike="noStrike" dirty="0">
                <a:solidFill>
                  <a:srgbClr val="FFFFFF"/>
                </a:solidFill>
                <a:latin typeface="Noto Sans SC"/>
                <a:ea typeface="Noto Sans SC"/>
                <a:cs typeface="Noto Sans SC"/>
                <a:sym typeface="Noto Sans SC"/>
              </a:rPr>
              <a:t> (25421336)</a:t>
            </a:r>
            <a:endParaRPr lang="en-US" sz="1100" dirty="0"/>
          </a:p>
        </p:txBody>
      </p:sp>
      <p:sp>
        <p:nvSpPr>
          <p:cNvPr id="6" name="AutoShape 6"/>
          <p:cNvSpPr/>
          <p:nvPr/>
        </p:nvSpPr>
        <p:spPr>
          <a:xfrm>
            <a:off x="5715000" y="3175000"/>
            <a:ext cx="762000" cy="50800"/>
          </a:xfrm>
          <a:prstGeom prst="roundRect">
            <a:avLst>
              <a:gd name="adj" fmla="val 0"/>
            </a:avLst>
          </a:prstGeom>
          <a:solidFill>
            <a:srgbClr val="BBDEFB">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7" name="AutoShape 7"/>
          <p:cNvSpPr/>
          <p:nvPr/>
        </p:nvSpPr>
        <p:spPr>
          <a:xfrm>
            <a:off x="1110593" y="2448910"/>
            <a:ext cx="10160000" cy="508000"/>
          </a:xfrm>
          <a:prstGeom prst="rect">
            <a:avLst/>
          </a:prstGeom>
          <a:noFill/>
          <a:ln w="12700" cap="flat" cmpd="sng">
            <a:noFill/>
            <a:prstDash val="solid"/>
            <a:round/>
          </a:ln>
        </p:spPr>
        <p:txBody>
          <a:bodyPr vert="horz" wrap="none" lIns="0" tIns="0" rIns="0" bIns="0" rtlCol="0" anchor="t" anchorCtr="0"/>
          <a:lstStyle/>
          <a:p>
            <a:pPr indent="0" algn="ctr">
              <a:lnSpc>
                <a:spcPct val="125000"/>
              </a:lnSpc>
              <a:defRPr/>
            </a:pPr>
            <a:r>
              <a:rPr lang="en-US" sz="3200" b="0" i="0" u="none" strike="noStrike" dirty="0">
                <a:solidFill>
                  <a:srgbClr val="E0F2FE"/>
                </a:solidFill>
                <a:latin typeface="Noto Sans SC"/>
                <a:ea typeface="Noto Sans SC"/>
                <a:cs typeface="Noto Sans SC"/>
                <a:sym typeface="Noto Sans SC"/>
              </a:rPr>
              <a:t>Analysis of IT and Finance Industry Recruitment Data in Hong Kong</a:t>
            </a:r>
            <a:endParaRPr lang="en-US" sz="3200" dirty="0"/>
          </a:p>
        </p:txBody>
      </p:sp>
      <p:pic>
        <p:nvPicPr>
          <p:cNvPr id="9" name="Picture 9"/>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892800" y="1651000"/>
            <a:ext cx="406400" cy="406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a:stretch>
            <a:fillRect/>
          </a:stretch>
        </p:blipFill>
        <p:spPr>
          <a:xfrm>
            <a:off x="0" y="254000"/>
            <a:ext cx="12192000" cy="6858000"/>
          </a:xfrm>
          <a:prstGeom prst="rect">
            <a:avLst/>
          </a:prstGeom>
          <a:noFill/>
          <a:ln w="25400" cap="flat" cmpd="sng">
            <a:noFill/>
            <a:prstDash val="solid"/>
            <a:round/>
          </a:ln>
        </p:spPr>
      </p:pic>
      <p:sp>
        <p:nvSpPr>
          <p:cNvPr id="3" name="AutoShape 3"/>
          <p:cNvSpPr/>
          <p:nvPr/>
        </p:nvSpPr>
        <p:spPr>
          <a:xfrm>
            <a:off x="762000" y="381000"/>
            <a:ext cx="10160000" cy="635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2800" b="1" i="0" u="none" strike="noStrike" dirty="0">
                <a:solidFill>
                  <a:srgbClr val="0D47A1"/>
                </a:solidFill>
                <a:latin typeface="Noto Sans SC"/>
                <a:ea typeface="Noto Sans SC"/>
                <a:cs typeface="Noto Sans SC"/>
                <a:sym typeface="Noto Sans SC"/>
              </a:rPr>
              <a:t>Data Overview and Quality Analysis</a:t>
            </a:r>
            <a:endParaRPr lang="en-US" sz="1100" dirty="0"/>
          </a:p>
        </p:txBody>
      </p:sp>
      <p:sp>
        <p:nvSpPr>
          <p:cNvPr id="4" name="AutoShape 4"/>
          <p:cNvSpPr/>
          <p:nvPr/>
        </p:nvSpPr>
        <p:spPr>
          <a:xfrm>
            <a:off x="762000" y="1270000"/>
            <a:ext cx="5080000" cy="4572000"/>
          </a:xfrm>
          <a:prstGeom prst="roundRect">
            <a:avLst>
              <a:gd name="adj" fmla="val 2777"/>
            </a:avLst>
          </a:prstGeom>
          <a:solidFill>
            <a:srgbClr val="FFFFFF">
              <a:alpha val="90000"/>
            </a:srgbClr>
          </a:solidFill>
          <a:ln w="25400" cap="flat" cmpd="sng">
            <a:noFill/>
            <a:prstDash val="solid"/>
            <a:round/>
          </a:ln>
          <a:effectLst>
            <a:outerShdw blurRad="127000" dist="50800" dir="5400000" algn="tl" rotWithShape="0">
              <a:srgbClr val="0D47A1">
                <a:alpha val="15000"/>
              </a:srgbClr>
            </a:outerShdw>
          </a:effectLst>
        </p:spPr>
        <p:txBody>
          <a:bodyPr vert="horz" wrap="square" lIns="63500" tIns="63500" rIns="63500" bIns="63500" rtlCol="0" anchor="ctr"/>
          <a:lstStyle/>
          <a:p>
            <a:pPr algn="ctr">
              <a:defRPr/>
            </a:pPr>
            <a:endParaRPr/>
          </a:p>
        </p:txBody>
      </p:sp>
      <p:pic>
        <p:nvPicPr>
          <p:cNvPr id="5" name="Picture 5"/>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16000" y="1498600"/>
            <a:ext cx="304800" cy="304800"/>
          </a:xfrm>
          <a:prstGeom prst="rect">
            <a:avLst/>
          </a:prstGeom>
        </p:spPr>
      </p:pic>
      <p:sp>
        <p:nvSpPr>
          <p:cNvPr id="6" name="AutoShape 6"/>
          <p:cNvSpPr/>
          <p:nvPr/>
        </p:nvSpPr>
        <p:spPr>
          <a:xfrm>
            <a:off x="1397000" y="14605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D47A1"/>
                </a:solidFill>
                <a:latin typeface="Noto Sans SC"/>
                <a:ea typeface="Noto Sans SC"/>
                <a:cs typeface="Noto Sans SC"/>
                <a:sym typeface="Noto Sans SC"/>
              </a:rPr>
              <a:t>Data Basic Overview</a:t>
            </a:r>
            <a:endParaRPr lang="en-US" sz="1100"/>
          </a:p>
        </p:txBody>
      </p:sp>
      <p:sp>
        <p:nvSpPr>
          <p:cNvPr id="7" name="AutoShape 7"/>
          <p:cNvSpPr/>
          <p:nvPr/>
        </p:nvSpPr>
        <p:spPr>
          <a:xfrm>
            <a:off x="1016000" y="1968500"/>
            <a:ext cx="4572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90A4AE"/>
                </a:solidFill>
                <a:latin typeface="Noto Sans SC"/>
                <a:ea typeface="Noto Sans SC"/>
                <a:cs typeface="Noto Sans SC"/>
                <a:sym typeface="Noto Sans SC"/>
              </a:rPr>
              <a:t>Data Source:</a:t>
            </a:r>
            <a:r>
              <a:rPr lang="en-US" sz="1200" b="0" i="0" u="none" strike="noStrike">
                <a:solidFill>
                  <a:srgbClr val="37474F"/>
                </a:solidFill>
                <a:latin typeface="Noto Sans SC"/>
                <a:ea typeface="Noto Sans SC"/>
                <a:cs typeface="Noto Sans SC"/>
                <a:sym typeface="Noto Sans SC"/>
              </a:rPr>
              <a:t>Crawled from IT and Finance recruitment platforms in Hong Kong</a:t>
            </a:r>
            <a:endParaRPr lang="en-US" sz="1100"/>
          </a:p>
        </p:txBody>
      </p:sp>
      <p:sp>
        <p:nvSpPr>
          <p:cNvPr id="8" name="AutoShape 8"/>
          <p:cNvSpPr/>
          <p:nvPr/>
        </p:nvSpPr>
        <p:spPr>
          <a:xfrm>
            <a:off x="1016000" y="2286000"/>
            <a:ext cx="4572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90A4AE"/>
                </a:solidFill>
                <a:latin typeface="Noto Sans SC"/>
                <a:ea typeface="Noto Sans SC"/>
                <a:cs typeface="Noto Sans SC"/>
                <a:sym typeface="Noto Sans SC"/>
              </a:rPr>
              <a:t>Time Coverage:</a:t>
            </a:r>
            <a:r>
              <a:rPr lang="en-US" sz="1200" b="0" i="0" u="none" strike="noStrike">
                <a:solidFill>
                  <a:srgbClr val="37474F"/>
                </a:solidFill>
                <a:latin typeface="Noto Sans SC"/>
                <a:ea typeface="Noto Sans SC"/>
                <a:cs typeface="Noto Sans SC"/>
                <a:sym typeface="Noto Sans SC"/>
              </a:rPr>
              <a:t>November 2025 - February 2026 (4 full months)</a:t>
            </a:r>
            <a:endParaRPr lang="en-US" sz="1100"/>
          </a:p>
        </p:txBody>
      </p:sp>
      <p:sp>
        <p:nvSpPr>
          <p:cNvPr id="9" name="AutoShape 9"/>
          <p:cNvSpPr/>
          <p:nvPr/>
        </p:nvSpPr>
        <p:spPr>
          <a:xfrm>
            <a:off x="1016000" y="2603500"/>
            <a:ext cx="4572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90A4AE"/>
                </a:solidFill>
                <a:latin typeface="Noto Sans SC"/>
                <a:ea typeface="Noto Sans SC"/>
                <a:cs typeface="Noto Sans SC"/>
                <a:sym typeface="Noto Sans SC"/>
              </a:rPr>
              <a:t>File Composition:</a:t>
            </a:r>
            <a:r>
              <a:rPr lang="en-US" sz="1200" b="0" i="0" u="none" strike="noStrike">
                <a:solidFill>
                  <a:srgbClr val="37474F"/>
                </a:solidFill>
                <a:latin typeface="Noto Sans SC"/>
                <a:ea typeface="Noto Sans SC"/>
                <a:cs typeface="Noto Sans SC"/>
                <a:sym typeface="Noto Sans SC"/>
              </a:rPr>
              <a:t>8 datasets (4 for IT, 4 for Finance)</a:t>
            </a:r>
            <a:endParaRPr lang="en-US" sz="1100"/>
          </a:p>
        </p:txBody>
      </p:sp>
      <p:graphicFrame>
        <p:nvGraphicFramePr>
          <p:cNvPr id="10" name="Table 10"/>
          <p:cNvGraphicFramePr>
            <a:graphicFrameLocks noGrp="1"/>
          </p:cNvGraphicFramePr>
          <p:nvPr>
            <p:extLst>
              <p:ext uri="{D42A27DB-BD31-4B8C-83A1-F6EECF244321}">
                <p14:modId xmlns:p14="http://schemas.microsoft.com/office/powerpoint/2010/main" val="592930950"/>
              </p:ext>
            </p:extLst>
          </p:nvPr>
        </p:nvGraphicFramePr>
        <p:xfrm>
          <a:off x="1016000" y="3048000"/>
          <a:ext cx="4572000" cy="2247900"/>
        </p:xfrm>
        <a:graphic>
          <a:graphicData uri="http://schemas.openxmlformats.org/drawingml/2006/table">
            <a:tbl>
              <a:tblPr>
                <a:effectLst/>
              </a:tblPr>
              <a:tblGrid>
                <a:gridCol w="1270000">
                  <a:extLst>
                    <a:ext uri="{9D8B030D-6E8A-4147-A177-3AD203B41FA5}">
                      <a16:colId xmlns:a16="http://schemas.microsoft.com/office/drawing/2014/main" val="20000"/>
                    </a:ext>
                  </a:extLst>
                </a:gridCol>
                <a:gridCol w="1651000">
                  <a:extLst>
                    <a:ext uri="{9D8B030D-6E8A-4147-A177-3AD203B41FA5}">
                      <a16:colId xmlns:a16="http://schemas.microsoft.com/office/drawing/2014/main" val="20001"/>
                    </a:ext>
                  </a:extLst>
                </a:gridCol>
                <a:gridCol w="1651000">
                  <a:extLst>
                    <a:ext uri="{9D8B030D-6E8A-4147-A177-3AD203B41FA5}">
                      <a16:colId xmlns:a16="http://schemas.microsoft.com/office/drawing/2014/main" val="20002"/>
                    </a:ext>
                  </a:extLst>
                </a:gridCol>
              </a:tblGrid>
              <a:tr h="561975">
                <a:tc>
                  <a:txBody>
                    <a:bodyPr/>
                    <a:lstStyle/>
                    <a:p>
                      <a:pPr indent="0" algn="ctr">
                        <a:lnSpc>
                          <a:spcPct val="100000"/>
                        </a:lnSpc>
                        <a:defRPr/>
                      </a:pPr>
                      <a:r>
                        <a:rPr lang="en-US" sz="1400" b="1" i="0" u="none" strike="noStrike">
                          <a:solidFill>
                            <a:srgbClr val="0D47A1"/>
                          </a:solidFill>
                          <a:latin typeface="Noto Sans SC"/>
                          <a:ea typeface="Noto Sans SC"/>
                          <a:cs typeface="Noto Sans SC"/>
                          <a:sym typeface="Noto Sans SC"/>
                        </a:rPr>
                        <a:t>Industry Type</a:t>
                      </a:r>
                      <a:endParaRPr lang="en-US" sz="1100"/>
                    </a:p>
                  </a:txBody>
                  <a:tcPr marL="101600" marR="101600" marT="101600" marB="101600">
                    <a:lnL>
                      <a:noFill/>
                    </a:lnL>
                    <a:lnR>
                      <a:noFill/>
                    </a:lnR>
                    <a:lnT>
                      <a:noFill/>
                    </a:lnT>
                    <a:lnB>
                      <a:noFill/>
                    </a:lnB>
                    <a:solidFill>
                      <a:srgbClr val="BBDEFB">
                        <a:alpha val="100000"/>
                      </a:srgbClr>
                    </a:solidFill>
                  </a:tcPr>
                </a:tc>
                <a:tc>
                  <a:txBody>
                    <a:bodyPr/>
                    <a:lstStyle/>
                    <a:p>
                      <a:pPr indent="0" algn="ctr">
                        <a:lnSpc>
                          <a:spcPct val="100000"/>
                        </a:lnSpc>
                        <a:defRPr/>
                      </a:pPr>
                      <a:r>
                        <a:rPr lang="en-US" sz="1400" b="1" i="0" u="none" strike="noStrike">
                          <a:solidFill>
                            <a:srgbClr val="0D47A1"/>
                          </a:solidFill>
                          <a:latin typeface="Noto Sans SC"/>
                          <a:ea typeface="Noto Sans SC"/>
                          <a:cs typeface="Noto Sans SC"/>
                          <a:sym typeface="Noto Sans SC"/>
                        </a:rPr>
                        <a:t>Record Count</a:t>
                      </a:r>
                      <a:endParaRPr lang="en-US" sz="1100"/>
                    </a:p>
                  </a:txBody>
                  <a:tcPr marL="101600" marR="101600" marT="101600" marB="101600">
                    <a:lnL>
                      <a:noFill/>
                    </a:lnL>
                    <a:lnR>
                      <a:noFill/>
                    </a:lnR>
                    <a:lnT>
                      <a:noFill/>
                    </a:lnT>
                    <a:lnB>
                      <a:noFill/>
                    </a:lnB>
                    <a:solidFill>
                      <a:srgbClr val="BBDEFB">
                        <a:alpha val="100000"/>
                      </a:srgbClr>
                    </a:solidFill>
                  </a:tcPr>
                </a:tc>
                <a:tc>
                  <a:txBody>
                    <a:bodyPr/>
                    <a:lstStyle/>
                    <a:p>
                      <a:pPr indent="0" algn="ctr">
                        <a:lnSpc>
                          <a:spcPct val="100000"/>
                        </a:lnSpc>
                        <a:defRPr/>
                      </a:pPr>
                      <a:r>
                        <a:rPr lang="en-US" sz="1400" b="1" i="0" u="none" strike="noStrike" dirty="0">
                          <a:solidFill>
                            <a:srgbClr val="0D47A1"/>
                          </a:solidFill>
                          <a:latin typeface="Noto Sans SC"/>
                          <a:ea typeface="Noto Sans SC"/>
                          <a:cs typeface="Noto Sans SC"/>
                          <a:sym typeface="Noto Sans SC"/>
                        </a:rPr>
                        <a:t>Field Count</a:t>
                      </a:r>
                      <a:endParaRPr lang="en-US" sz="1100" dirty="0"/>
                    </a:p>
                  </a:txBody>
                  <a:tcPr marL="101600" marR="101600" marT="101600" marB="101600">
                    <a:lnL>
                      <a:noFill/>
                    </a:lnL>
                    <a:lnR>
                      <a:noFill/>
                    </a:lnR>
                    <a:lnT>
                      <a:noFill/>
                    </a:lnT>
                    <a:lnB>
                      <a:noFill/>
                    </a:lnB>
                    <a:solidFill>
                      <a:srgbClr val="BBDEFB">
                        <a:alpha val="100000"/>
                      </a:srgbClr>
                    </a:solidFill>
                  </a:tcPr>
                </a:tc>
                <a:extLst>
                  <a:ext uri="{0D108BD9-81ED-4DB2-BD59-A6C34878D82A}">
                    <a16:rowId xmlns:a16="http://schemas.microsoft.com/office/drawing/2014/main" val="10000"/>
                  </a:ext>
                </a:extLst>
              </a:tr>
              <a:tr h="561975">
                <a:tc>
                  <a:txBody>
                    <a:bodyPr/>
                    <a:lstStyle/>
                    <a:p>
                      <a:pPr indent="0" algn="ctr">
                        <a:lnSpc>
                          <a:spcPct val="100000"/>
                        </a:lnSpc>
                        <a:defRPr/>
                      </a:pPr>
                      <a:r>
                        <a:rPr lang="en-US" sz="1400" b="0" i="0" u="none" strike="noStrike">
                          <a:solidFill>
                            <a:srgbClr val="37474F"/>
                          </a:solidFill>
                          <a:latin typeface="Noto Sans SC"/>
                          <a:ea typeface="Noto Sans SC"/>
                          <a:cs typeface="Noto Sans SC"/>
                          <a:sym typeface="Noto Sans SC"/>
                        </a:rPr>
                        <a:t>IT</a:t>
                      </a:r>
                      <a:endParaRPr lang="en-US" sz="1100"/>
                    </a:p>
                  </a:txBody>
                  <a:tcPr marL="101600" marR="101600" marT="101600" marB="101600">
                    <a:lnL>
                      <a:noFill/>
                    </a:lnL>
                    <a:lnR>
                      <a:noFill/>
                    </a:lnR>
                    <a:lnT>
                      <a:noFill/>
                    </a:lnT>
                    <a:lnB>
                      <a:noFill/>
                    </a:lnB>
                    <a:solidFill>
                      <a:srgbClr val="ECF3FF">
                        <a:alpha val="100000"/>
                      </a:srgbClr>
                    </a:solidFill>
                  </a:tcPr>
                </a:tc>
                <a:tc>
                  <a:txBody>
                    <a:bodyPr/>
                    <a:lstStyle/>
                    <a:p>
                      <a:pPr indent="0" algn="ctr">
                        <a:lnSpc>
                          <a:spcPct val="100000"/>
                        </a:lnSpc>
                        <a:defRPr/>
                      </a:pPr>
                      <a:r>
                        <a:rPr lang="en-US" sz="1400" b="0" i="0" u="none" strike="noStrike" dirty="0">
                          <a:solidFill>
                            <a:srgbClr val="37474F"/>
                          </a:solidFill>
                          <a:latin typeface="Noto Sans SC"/>
                          <a:ea typeface="Noto Sans SC"/>
                          <a:cs typeface="Noto Sans SC"/>
                          <a:sym typeface="Noto Sans SC"/>
                        </a:rPr>
                        <a:t>1</a:t>
                      </a:r>
                      <a:r>
                        <a:rPr lang="en-US" altLang="zh-CN" sz="1400" b="0" i="0" u="none" strike="noStrike" dirty="0">
                          <a:solidFill>
                            <a:srgbClr val="37474F"/>
                          </a:solidFill>
                          <a:latin typeface="Noto Sans SC"/>
                          <a:ea typeface="Noto Sans SC"/>
                          <a:cs typeface="Noto Sans SC"/>
                          <a:sym typeface="Noto Sans SC"/>
                        </a:rPr>
                        <a:t>6410</a:t>
                      </a:r>
                      <a:endParaRPr lang="en-US" sz="1100" dirty="0"/>
                    </a:p>
                  </a:txBody>
                  <a:tcPr marL="101600" marR="101600" marT="101600" marB="101600">
                    <a:lnL>
                      <a:noFill/>
                    </a:lnL>
                    <a:lnR>
                      <a:noFill/>
                    </a:lnR>
                    <a:lnT>
                      <a:noFill/>
                    </a:lnT>
                    <a:lnB>
                      <a:noFill/>
                    </a:lnB>
                    <a:solidFill>
                      <a:srgbClr val="ECF3FF">
                        <a:alpha val="100000"/>
                      </a:srgbClr>
                    </a:solidFill>
                  </a:tcPr>
                </a:tc>
                <a:tc>
                  <a:txBody>
                    <a:bodyPr/>
                    <a:lstStyle/>
                    <a:p>
                      <a:pPr indent="0" algn="ctr">
                        <a:lnSpc>
                          <a:spcPct val="100000"/>
                        </a:lnSpc>
                        <a:defRPr/>
                      </a:pPr>
                      <a:r>
                        <a:rPr lang="en-US" sz="1400" b="0" i="0" u="none" strike="noStrike" dirty="0">
                          <a:solidFill>
                            <a:srgbClr val="37474F"/>
                          </a:solidFill>
                          <a:latin typeface="Noto Sans SC"/>
                          <a:ea typeface="Noto Sans SC"/>
                          <a:cs typeface="Noto Sans SC"/>
                          <a:sym typeface="Noto Sans SC"/>
                        </a:rPr>
                        <a:t>3</a:t>
                      </a:r>
                      <a:r>
                        <a:rPr lang="en-US" altLang="zh-CN" sz="1400" b="0" i="0" u="none" strike="noStrike" dirty="0">
                          <a:solidFill>
                            <a:srgbClr val="37474F"/>
                          </a:solidFill>
                          <a:latin typeface="Noto Sans SC"/>
                          <a:ea typeface="Noto Sans SC"/>
                          <a:cs typeface="Noto Sans SC"/>
                          <a:sym typeface="Noto Sans SC"/>
                        </a:rPr>
                        <a:t>9</a:t>
                      </a:r>
                      <a:endParaRPr lang="en-US" sz="1100" dirty="0"/>
                    </a:p>
                  </a:txBody>
                  <a:tcPr marL="101600" marR="101600" marT="101600" marB="101600">
                    <a:lnL>
                      <a:noFill/>
                    </a:lnL>
                    <a:lnR>
                      <a:noFill/>
                    </a:lnR>
                    <a:lnT>
                      <a:noFill/>
                    </a:lnT>
                    <a:lnB>
                      <a:noFill/>
                    </a:lnB>
                    <a:solidFill>
                      <a:srgbClr val="ECF3FF">
                        <a:alpha val="100000"/>
                      </a:srgbClr>
                    </a:solidFill>
                  </a:tcPr>
                </a:tc>
                <a:extLst>
                  <a:ext uri="{0D108BD9-81ED-4DB2-BD59-A6C34878D82A}">
                    <a16:rowId xmlns:a16="http://schemas.microsoft.com/office/drawing/2014/main" val="10001"/>
                  </a:ext>
                </a:extLst>
              </a:tr>
              <a:tr h="561975">
                <a:tc>
                  <a:txBody>
                    <a:bodyPr/>
                    <a:lstStyle/>
                    <a:p>
                      <a:pPr indent="0" algn="ctr">
                        <a:lnSpc>
                          <a:spcPct val="100000"/>
                        </a:lnSpc>
                        <a:defRPr/>
                      </a:pPr>
                      <a:r>
                        <a:rPr lang="en-US" sz="1400" b="0" i="0" u="none" strike="noStrike">
                          <a:solidFill>
                            <a:srgbClr val="37474F"/>
                          </a:solidFill>
                          <a:latin typeface="Noto Sans SC"/>
                          <a:ea typeface="Noto Sans SC"/>
                          <a:cs typeface="Noto Sans SC"/>
                          <a:sym typeface="Noto Sans SC"/>
                        </a:rPr>
                        <a:t>Finance</a:t>
                      </a:r>
                      <a:endParaRPr lang="en-US" sz="1100"/>
                    </a:p>
                  </a:txBody>
                  <a:tcPr marL="101600" marR="101600" marT="101600" marB="101600">
                    <a:lnL>
                      <a:noFill/>
                    </a:lnL>
                    <a:lnR>
                      <a:noFill/>
                    </a:lnR>
                    <a:lnT>
                      <a:noFill/>
                    </a:lnT>
                    <a:lnB>
                      <a:noFill/>
                    </a:lnB>
                    <a:solidFill>
                      <a:srgbClr val="FFFFFF">
                        <a:alpha val="100000"/>
                      </a:srgbClr>
                    </a:solidFill>
                  </a:tcPr>
                </a:tc>
                <a:tc>
                  <a:txBody>
                    <a:bodyPr/>
                    <a:lstStyle/>
                    <a:p>
                      <a:pPr indent="0" algn="ctr">
                        <a:lnSpc>
                          <a:spcPct val="100000"/>
                        </a:lnSpc>
                        <a:defRPr/>
                      </a:pPr>
                      <a:r>
                        <a:rPr lang="en-US" altLang="zh-CN" sz="1400" b="0" i="0" u="none" strike="noStrike" dirty="0">
                          <a:solidFill>
                            <a:srgbClr val="37474F"/>
                          </a:solidFill>
                          <a:latin typeface="Noto Sans SC"/>
                          <a:sym typeface="Noto Sans SC"/>
                        </a:rPr>
                        <a:t>12682</a:t>
                      </a:r>
                      <a:endParaRPr lang="en-US" sz="1100" dirty="0"/>
                    </a:p>
                  </a:txBody>
                  <a:tcPr marL="101600" marR="101600" marT="101600" marB="101600">
                    <a:lnL>
                      <a:noFill/>
                    </a:lnL>
                    <a:lnR>
                      <a:noFill/>
                    </a:lnR>
                    <a:lnT>
                      <a:noFill/>
                    </a:lnT>
                    <a:lnB>
                      <a:noFill/>
                    </a:lnB>
                    <a:solidFill>
                      <a:srgbClr val="FFFFFF">
                        <a:alpha val="100000"/>
                      </a:srgbClr>
                    </a:solidFill>
                  </a:tcPr>
                </a:tc>
                <a:tc>
                  <a:txBody>
                    <a:bodyPr/>
                    <a:lstStyle/>
                    <a:p>
                      <a:pPr indent="0" algn="ctr">
                        <a:lnSpc>
                          <a:spcPct val="100000"/>
                        </a:lnSpc>
                        <a:defRPr/>
                      </a:pPr>
                      <a:r>
                        <a:rPr lang="en-US" sz="1400" b="0" i="0" u="none" strike="noStrike" dirty="0">
                          <a:solidFill>
                            <a:srgbClr val="37474F"/>
                          </a:solidFill>
                          <a:latin typeface="Noto Sans SC"/>
                          <a:ea typeface="Noto Sans SC"/>
                          <a:cs typeface="Noto Sans SC"/>
                          <a:sym typeface="Noto Sans SC"/>
                        </a:rPr>
                        <a:t>3</a:t>
                      </a:r>
                      <a:r>
                        <a:rPr lang="en-US" altLang="zh-CN" sz="1400" b="0" i="0" u="none" strike="noStrike" dirty="0">
                          <a:solidFill>
                            <a:srgbClr val="37474F"/>
                          </a:solidFill>
                          <a:latin typeface="Noto Sans SC"/>
                          <a:ea typeface="Noto Sans SC"/>
                          <a:cs typeface="Noto Sans SC"/>
                          <a:sym typeface="Noto Sans SC"/>
                        </a:rPr>
                        <a:t>9</a:t>
                      </a:r>
                      <a:endParaRPr lang="en-US" sz="1100" dirty="0"/>
                    </a:p>
                  </a:txBody>
                  <a:tcPr marL="101600" marR="101600" marT="101600" marB="101600">
                    <a:lnL>
                      <a:noFill/>
                    </a:lnL>
                    <a:lnR>
                      <a:noFill/>
                    </a:lnR>
                    <a:lnT>
                      <a:noFill/>
                    </a:lnT>
                    <a:lnB>
                      <a:noFill/>
                    </a:lnB>
                    <a:solidFill>
                      <a:srgbClr val="FFFFFF">
                        <a:alpha val="100000"/>
                      </a:srgbClr>
                    </a:solidFill>
                  </a:tcPr>
                </a:tc>
                <a:extLst>
                  <a:ext uri="{0D108BD9-81ED-4DB2-BD59-A6C34878D82A}">
                    <a16:rowId xmlns:a16="http://schemas.microsoft.com/office/drawing/2014/main" val="10002"/>
                  </a:ext>
                </a:extLst>
              </a:tr>
              <a:tr h="561975">
                <a:tc>
                  <a:txBody>
                    <a:bodyPr/>
                    <a:lstStyle/>
                    <a:p>
                      <a:pPr indent="0" algn="ctr">
                        <a:lnSpc>
                          <a:spcPct val="100000"/>
                        </a:lnSpc>
                        <a:defRPr/>
                      </a:pPr>
                      <a:r>
                        <a:rPr lang="en-US" sz="1400" b="1" i="0" u="none" strike="noStrike">
                          <a:solidFill>
                            <a:srgbClr val="0D47A1"/>
                          </a:solidFill>
                          <a:latin typeface="Noto Sans SC"/>
                          <a:ea typeface="Noto Sans SC"/>
                          <a:cs typeface="Noto Sans SC"/>
                          <a:sym typeface="Noto Sans SC"/>
                        </a:rPr>
                        <a:t>Total</a:t>
                      </a:r>
                      <a:endParaRPr lang="en-US" sz="1100"/>
                    </a:p>
                  </a:txBody>
                  <a:tcPr marL="101600" marR="101600" marT="101600" marB="101600">
                    <a:lnL>
                      <a:noFill/>
                    </a:lnL>
                    <a:lnR>
                      <a:noFill/>
                    </a:lnR>
                    <a:lnT>
                      <a:noFill/>
                    </a:lnT>
                    <a:lnB>
                      <a:noFill/>
                    </a:lnB>
                    <a:solidFill>
                      <a:srgbClr val="ECF3FF">
                        <a:alpha val="100000"/>
                      </a:srgbClr>
                    </a:solidFill>
                  </a:tcPr>
                </a:tc>
                <a:tc>
                  <a:txBody>
                    <a:bodyPr/>
                    <a:lstStyle/>
                    <a:p>
                      <a:pPr indent="0" algn="ctr">
                        <a:lnSpc>
                          <a:spcPct val="100000"/>
                        </a:lnSpc>
                        <a:defRPr/>
                      </a:pPr>
                      <a:r>
                        <a:rPr lang="en-US" altLang="zh-CN" sz="1400" b="1" i="0" u="none" strike="noStrike" dirty="0">
                          <a:solidFill>
                            <a:srgbClr val="0D47A1"/>
                          </a:solidFill>
                          <a:latin typeface="Noto Sans SC"/>
                          <a:sym typeface="Noto Sans SC"/>
                        </a:rPr>
                        <a:t>29092</a:t>
                      </a:r>
                      <a:endParaRPr lang="en-US" sz="1100" dirty="0"/>
                    </a:p>
                  </a:txBody>
                  <a:tcPr marL="101600" marR="101600" marT="101600" marB="101600">
                    <a:lnL>
                      <a:noFill/>
                    </a:lnL>
                    <a:lnR>
                      <a:noFill/>
                    </a:lnR>
                    <a:lnT>
                      <a:noFill/>
                    </a:lnT>
                    <a:lnB>
                      <a:noFill/>
                    </a:lnB>
                    <a:solidFill>
                      <a:srgbClr val="ECF3FF">
                        <a:alpha val="100000"/>
                      </a:srgbClr>
                    </a:solidFill>
                  </a:tcPr>
                </a:tc>
                <a:tc>
                  <a:txBody>
                    <a:bodyPr/>
                    <a:lstStyle/>
                    <a:p>
                      <a:pPr indent="0" algn="ctr">
                        <a:lnSpc>
                          <a:spcPct val="100000"/>
                        </a:lnSpc>
                        <a:defRPr/>
                      </a:pPr>
                      <a:r>
                        <a:rPr lang="en-US" sz="1400" b="1" i="0" u="none" strike="noStrike" dirty="0">
                          <a:solidFill>
                            <a:srgbClr val="0D47A1"/>
                          </a:solidFill>
                          <a:latin typeface="Noto Sans SC"/>
                          <a:ea typeface="Noto Sans SC"/>
                          <a:cs typeface="Noto Sans SC"/>
                          <a:sym typeface="Noto Sans SC"/>
                        </a:rPr>
                        <a:t>3</a:t>
                      </a:r>
                      <a:r>
                        <a:rPr lang="en-US" altLang="zh-CN" sz="1400" b="1" i="0" u="none" strike="noStrike" dirty="0">
                          <a:solidFill>
                            <a:srgbClr val="0D47A1"/>
                          </a:solidFill>
                          <a:latin typeface="Noto Sans SC"/>
                          <a:ea typeface="Noto Sans SC"/>
                          <a:cs typeface="Noto Sans SC"/>
                          <a:sym typeface="Noto Sans SC"/>
                        </a:rPr>
                        <a:t>9</a:t>
                      </a:r>
                      <a:endParaRPr lang="en-US" sz="1100" dirty="0"/>
                    </a:p>
                  </a:txBody>
                  <a:tcPr marL="101600" marR="101600" marT="101600" marB="101600">
                    <a:lnL>
                      <a:noFill/>
                    </a:lnL>
                    <a:lnR>
                      <a:noFill/>
                    </a:lnR>
                    <a:lnT>
                      <a:noFill/>
                    </a:lnT>
                    <a:lnB>
                      <a:noFill/>
                    </a:lnB>
                    <a:solidFill>
                      <a:srgbClr val="ECF3FF">
                        <a:alpha val="100000"/>
                      </a:srgbClr>
                    </a:solidFill>
                  </a:tcPr>
                </a:tc>
                <a:extLst>
                  <a:ext uri="{0D108BD9-81ED-4DB2-BD59-A6C34878D82A}">
                    <a16:rowId xmlns:a16="http://schemas.microsoft.com/office/drawing/2014/main" val="10003"/>
                  </a:ext>
                </a:extLst>
              </a:tr>
            </a:tbl>
          </a:graphicData>
        </a:graphic>
      </p:graphicFrame>
      <p:sp>
        <p:nvSpPr>
          <p:cNvPr id="11" name="AutoShape 11"/>
          <p:cNvSpPr/>
          <p:nvPr/>
        </p:nvSpPr>
        <p:spPr>
          <a:xfrm>
            <a:off x="6350000" y="1270000"/>
            <a:ext cx="5080000" cy="4572000"/>
          </a:xfrm>
          <a:prstGeom prst="roundRect">
            <a:avLst>
              <a:gd name="adj" fmla="val 2777"/>
            </a:avLst>
          </a:prstGeom>
          <a:solidFill>
            <a:srgbClr val="FFFFFF">
              <a:alpha val="90000"/>
            </a:srgbClr>
          </a:solidFill>
          <a:ln w="25400" cap="flat" cmpd="sng">
            <a:noFill/>
            <a:prstDash val="solid"/>
            <a:round/>
          </a:ln>
          <a:effectLst>
            <a:outerShdw blurRad="127000" dist="50800" dir="5400000" algn="tl" rotWithShape="0">
              <a:srgbClr val="0D47A1">
                <a:alpha val="15000"/>
              </a:srgbClr>
            </a:outerShdw>
          </a:effectLst>
        </p:spPr>
        <p:txBody>
          <a:bodyPr vert="horz" wrap="square" lIns="63500" tIns="63500" rIns="63500" bIns="63500" rtlCol="0" anchor="ctr"/>
          <a:lstStyle/>
          <a:p>
            <a:pPr algn="ctr">
              <a:defRPr/>
            </a:pPr>
            <a:endParaRPr/>
          </a:p>
        </p:txBody>
      </p:sp>
      <p:pic>
        <p:nvPicPr>
          <p:cNvPr id="12" name="Picture 12"/>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604000" y="1498600"/>
            <a:ext cx="304800" cy="304800"/>
          </a:xfrm>
          <a:prstGeom prst="rect">
            <a:avLst/>
          </a:prstGeom>
        </p:spPr>
      </p:pic>
      <p:sp>
        <p:nvSpPr>
          <p:cNvPr id="13" name="AutoShape 13"/>
          <p:cNvSpPr/>
          <p:nvPr/>
        </p:nvSpPr>
        <p:spPr>
          <a:xfrm>
            <a:off x="6985000" y="14605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D47A1"/>
                </a:solidFill>
                <a:latin typeface="Noto Sans SC"/>
                <a:ea typeface="Noto Sans SC"/>
                <a:cs typeface="Noto Sans SC"/>
                <a:sym typeface="Noto Sans SC"/>
              </a:rPr>
              <a:t>Data Quality Analysis</a:t>
            </a:r>
            <a:endParaRPr lang="en-US" sz="1100"/>
          </a:p>
        </p:txBody>
      </p:sp>
      <p:sp>
        <p:nvSpPr>
          <p:cNvPr id="14" name="AutoShape 14"/>
          <p:cNvSpPr/>
          <p:nvPr/>
        </p:nvSpPr>
        <p:spPr>
          <a:xfrm>
            <a:off x="6604000" y="1968500"/>
            <a:ext cx="4572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90A4AE"/>
                </a:solidFill>
                <a:latin typeface="Noto Sans SC"/>
                <a:ea typeface="Noto Sans SC"/>
                <a:cs typeface="Noto Sans SC"/>
                <a:sym typeface="Noto Sans SC"/>
              </a:rPr>
              <a:t>Missing Value Statistics of Core Fields:</a:t>
            </a:r>
            <a:endParaRPr lang="en-US" sz="1100"/>
          </a:p>
        </p:txBody>
      </p:sp>
      <p:graphicFrame>
        <p:nvGraphicFramePr>
          <p:cNvPr id="15" name="Table 15"/>
          <p:cNvGraphicFramePr>
            <a:graphicFrameLocks noGrp="1"/>
          </p:cNvGraphicFramePr>
          <p:nvPr>
            <p:extLst>
              <p:ext uri="{D42A27DB-BD31-4B8C-83A1-F6EECF244321}">
                <p14:modId xmlns:p14="http://schemas.microsoft.com/office/powerpoint/2010/main" val="3466053909"/>
              </p:ext>
            </p:extLst>
          </p:nvPr>
        </p:nvGraphicFramePr>
        <p:xfrm>
          <a:off x="6477000" y="2204720"/>
          <a:ext cx="4572000" cy="1772920"/>
        </p:xfrm>
        <a:graphic>
          <a:graphicData uri="http://schemas.openxmlformats.org/drawingml/2006/table">
            <a:tbl>
              <a:tblPr>
                <a:effectLst/>
              </a:tblPr>
              <a:tblGrid>
                <a:gridCol w="1524000">
                  <a:extLst>
                    <a:ext uri="{9D8B030D-6E8A-4147-A177-3AD203B41FA5}">
                      <a16:colId xmlns:a16="http://schemas.microsoft.com/office/drawing/2014/main" val="20000"/>
                    </a:ext>
                  </a:extLst>
                </a:gridCol>
                <a:gridCol w="1524000">
                  <a:extLst>
                    <a:ext uri="{9D8B030D-6E8A-4147-A177-3AD203B41FA5}">
                      <a16:colId xmlns:a16="http://schemas.microsoft.com/office/drawing/2014/main" val="20001"/>
                    </a:ext>
                  </a:extLst>
                </a:gridCol>
                <a:gridCol w="1524000">
                  <a:extLst>
                    <a:ext uri="{9D8B030D-6E8A-4147-A177-3AD203B41FA5}">
                      <a16:colId xmlns:a16="http://schemas.microsoft.com/office/drawing/2014/main" val="20002"/>
                    </a:ext>
                  </a:extLst>
                </a:gridCol>
              </a:tblGrid>
              <a:tr h="355600">
                <a:tc>
                  <a:txBody>
                    <a:bodyPr/>
                    <a:lstStyle/>
                    <a:p>
                      <a:pPr indent="0" algn="ctr">
                        <a:lnSpc>
                          <a:spcPct val="100000"/>
                        </a:lnSpc>
                        <a:defRPr/>
                      </a:pPr>
                      <a:r>
                        <a:rPr lang="en-US" sz="1300" b="1" i="0" u="none" strike="noStrike">
                          <a:solidFill>
                            <a:srgbClr val="0D47A1"/>
                          </a:solidFill>
                          <a:latin typeface="Noto Sans SC"/>
                          <a:ea typeface="Noto Sans SC"/>
                          <a:cs typeface="Noto Sans SC"/>
                          <a:sym typeface="Noto Sans SC"/>
                        </a:rPr>
                        <a:t>Field Name</a:t>
                      </a:r>
                      <a:endParaRPr lang="en-US" sz="1100"/>
                    </a:p>
                  </a:txBody>
                  <a:tcPr marL="101600" marR="101600" marT="101600" marB="101600">
                    <a:lnL>
                      <a:noFill/>
                    </a:lnL>
                    <a:lnR>
                      <a:noFill/>
                    </a:lnR>
                    <a:lnT>
                      <a:noFill/>
                    </a:lnT>
                    <a:lnB>
                      <a:noFill/>
                    </a:lnB>
                    <a:solidFill>
                      <a:srgbClr val="BBDEFB">
                        <a:alpha val="100000"/>
                      </a:srgbClr>
                    </a:solidFill>
                  </a:tcPr>
                </a:tc>
                <a:tc>
                  <a:txBody>
                    <a:bodyPr/>
                    <a:lstStyle/>
                    <a:p>
                      <a:pPr indent="0" algn="ctr">
                        <a:lnSpc>
                          <a:spcPct val="100000"/>
                        </a:lnSpc>
                        <a:defRPr/>
                      </a:pPr>
                      <a:r>
                        <a:rPr lang="en-US" sz="1300" b="1" i="0" u="none" strike="noStrike">
                          <a:solidFill>
                            <a:srgbClr val="0D47A1"/>
                          </a:solidFill>
                          <a:latin typeface="Noto Sans SC"/>
                          <a:ea typeface="Noto Sans SC"/>
                          <a:cs typeface="Noto Sans SC"/>
                          <a:sym typeface="Noto Sans SC"/>
                        </a:rPr>
                        <a:t>Missing Count</a:t>
                      </a:r>
                      <a:endParaRPr lang="en-US" sz="1100"/>
                    </a:p>
                  </a:txBody>
                  <a:tcPr marL="101600" marR="101600" marT="101600" marB="101600">
                    <a:lnL>
                      <a:noFill/>
                    </a:lnL>
                    <a:lnR>
                      <a:noFill/>
                    </a:lnR>
                    <a:lnT>
                      <a:noFill/>
                    </a:lnT>
                    <a:lnB>
                      <a:noFill/>
                    </a:lnB>
                    <a:solidFill>
                      <a:srgbClr val="BBDEFB">
                        <a:alpha val="100000"/>
                      </a:srgbClr>
                    </a:solidFill>
                  </a:tcPr>
                </a:tc>
                <a:tc>
                  <a:txBody>
                    <a:bodyPr/>
                    <a:lstStyle/>
                    <a:p>
                      <a:pPr indent="0" algn="ctr">
                        <a:lnSpc>
                          <a:spcPct val="100000"/>
                        </a:lnSpc>
                        <a:defRPr/>
                      </a:pPr>
                      <a:r>
                        <a:rPr lang="en-US" sz="1300" b="1" i="0" u="none" strike="noStrike">
                          <a:solidFill>
                            <a:srgbClr val="0D47A1"/>
                          </a:solidFill>
                          <a:latin typeface="Noto Sans SC"/>
                          <a:ea typeface="Noto Sans SC"/>
                          <a:cs typeface="Noto Sans SC"/>
                          <a:sym typeface="Noto Sans SC"/>
                        </a:rPr>
                        <a:t>Missing Rate</a:t>
                      </a:r>
                      <a:endParaRPr lang="en-US" sz="1100"/>
                    </a:p>
                  </a:txBody>
                  <a:tcPr marL="101600" marR="101600" marT="101600" marB="101600">
                    <a:lnL>
                      <a:noFill/>
                    </a:lnL>
                    <a:lnR>
                      <a:noFill/>
                    </a:lnR>
                    <a:lnT>
                      <a:noFill/>
                    </a:lnT>
                    <a:lnB>
                      <a:noFill/>
                    </a:lnB>
                    <a:solidFill>
                      <a:srgbClr val="BBDEFB">
                        <a:alpha val="100000"/>
                      </a:srgbClr>
                    </a:solidFill>
                  </a:tcPr>
                </a:tc>
                <a:extLst>
                  <a:ext uri="{0D108BD9-81ED-4DB2-BD59-A6C34878D82A}">
                    <a16:rowId xmlns:a16="http://schemas.microsoft.com/office/drawing/2014/main" val="10000"/>
                  </a:ext>
                </a:extLst>
              </a:tr>
              <a:tr h="355600">
                <a:tc>
                  <a:txBody>
                    <a:bodyPr/>
                    <a:lstStyle/>
                    <a:p>
                      <a:pPr indent="0" algn="ctr">
                        <a:lnSpc>
                          <a:spcPct val="100000"/>
                        </a:lnSpc>
                        <a:defRPr/>
                      </a:pPr>
                      <a:r>
                        <a:rPr lang="en-US" sz="1300" b="0" i="0" u="none" strike="noStrike">
                          <a:solidFill>
                            <a:srgbClr val="37474F"/>
                          </a:solidFill>
                          <a:latin typeface="Noto Sans SC"/>
                          <a:ea typeface="Noto Sans SC"/>
                          <a:cs typeface="Noto Sans SC"/>
                          <a:sym typeface="Noto Sans SC"/>
                        </a:rPr>
                        <a:t>salary</a:t>
                      </a:r>
                      <a:endParaRPr lang="en-US" sz="1100"/>
                    </a:p>
                  </a:txBody>
                  <a:tcPr marL="101600" marR="101600" marT="101600" marB="101600">
                    <a:lnL>
                      <a:noFill/>
                    </a:lnL>
                    <a:lnR>
                      <a:noFill/>
                    </a:lnR>
                    <a:lnT>
                      <a:noFill/>
                    </a:lnT>
                    <a:lnB>
                      <a:noFill/>
                    </a:lnB>
                    <a:solidFill>
                      <a:srgbClr val="ECF3FF">
                        <a:alpha val="100000"/>
                      </a:srgbClr>
                    </a:solidFill>
                  </a:tcPr>
                </a:tc>
                <a:tc>
                  <a:txBody>
                    <a:bodyPr/>
                    <a:lstStyle/>
                    <a:p>
                      <a:pPr indent="0" algn="ctr">
                        <a:lnSpc>
                          <a:spcPct val="100000"/>
                        </a:lnSpc>
                        <a:defRPr/>
                      </a:pPr>
                      <a:r>
                        <a:rPr lang="en-US" altLang="zh-CN" sz="1300" b="0" i="0" u="none" strike="noStrike" dirty="0">
                          <a:solidFill>
                            <a:srgbClr val="37474F"/>
                          </a:solidFill>
                          <a:latin typeface="Noto Sans SC"/>
                          <a:sym typeface="Noto Sans SC"/>
                        </a:rPr>
                        <a:t>23233</a:t>
                      </a:r>
                      <a:endParaRPr lang="en-US" sz="1100" dirty="0"/>
                    </a:p>
                  </a:txBody>
                  <a:tcPr marL="101600" marR="101600" marT="101600" marB="101600">
                    <a:lnL>
                      <a:noFill/>
                    </a:lnL>
                    <a:lnR>
                      <a:noFill/>
                    </a:lnR>
                    <a:lnT>
                      <a:noFill/>
                    </a:lnT>
                    <a:lnB>
                      <a:noFill/>
                    </a:lnB>
                    <a:solidFill>
                      <a:srgbClr val="ECF3FF">
                        <a:alpha val="100000"/>
                      </a:srgbClr>
                    </a:solidFill>
                  </a:tcPr>
                </a:tc>
                <a:tc>
                  <a:txBody>
                    <a:bodyPr/>
                    <a:lstStyle/>
                    <a:p>
                      <a:pPr indent="0" algn="ctr">
                        <a:lnSpc>
                          <a:spcPct val="100000"/>
                        </a:lnSpc>
                        <a:defRPr/>
                      </a:pPr>
                      <a:r>
                        <a:rPr lang="en-US" altLang="zh-CN" sz="1300" b="1" i="0" u="none" strike="noStrike" dirty="0">
                          <a:solidFill>
                            <a:srgbClr val="D81B60"/>
                          </a:solidFill>
                          <a:latin typeface="Noto Sans SC"/>
                          <a:sym typeface="Noto Sans SC"/>
                        </a:rPr>
                        <a:t>79.86%</a:t>
                      </a:r>
                      <a:endParaRPr lang="en-US" sz="1100" dirty="0"/>
                    </a:p>
                  </a:txBody>
                  <a:tcPr marL="101600" marR="101600" marT="101600" marB="101600">
                    <a:lnL>
                      <a:noFill/>
                    </a:lnL>
                    <a:lnR>
                      <a:noFill/>
                    </a:lnR>
                    <a:lnT>
                      <a:noFill/>
                    </a:lnT>
                    <a:lnB>
                      <a:noFill/>
                    </a:lnB>
                    <a:solidFill>
                      <a:srgbClr val="ECF3FF">
                        <a:alpha val="100000"/>
                      </a:srgbClr>
                    </a:solidFill>
                  </a:tcPr>
                </a:tc>
                <a:extLst>
                  <a:ext uri="{0D108BD9-81ED-4DB2-BD59-A6C34878D82A}">
                    <a16:rowId xmlns:a16="http://schemas.microsoft.com/office/drawing/2014/main" val="10001"/>
                  </a:ext>
                </a:extLst>
              </a:tr>
              <a:tr h="355600">
                <a:tc>
                  <a:txBody>
                    <a:bodyPr/>
                    <a:lstStyle/>
                    <a:p>
                      <a:pPr indent="0" algn="ctr">
                        <a:lnSpc>
                          <a:spcPct val="100000"/>
                        </a:lnSpc>
                        <a:defRPr/>
                      </a:pPr>
                      <a:r>
                        <a:rPr lang="en-US" sz="1300" b="0" i="0" u="none" strike="noStrike">
                          <a:solidFill>
                            <a:srgbClr val="37474F"/>
                          </a:solidFill>
                          <a:latin typeface="Noto Sans SC"/>
                          <a:ea typeface="Noto Sans SC"/>
                          <a:cs typeface="Noto Sans SC"/>
                          <a:sym typeface="Noto Sans SC"/>
                        </a:rPr>
                        <a:t>location</a:t>
                      </a:r>
                      <a:endParaRPr lang="en-US" sz="1100"/>
                    </a:p>
                  </a:txBody>
                  <a:tcPr marL="101600" marR="101600" marT="101600" marB="101600">
                    <a:lnL>
                      <a:noFill/>
                    </a:lnL>
                    <a:lnR>
                      <a:noFill/>
                    </a:lnR>
                    <a:lnT>
                      <a:noFill/>
                    </a:lnT>
                    <a:lnB>
                      <a:noFill/>
                    </a:lnB>
                    <a:solidFill>
                      <a:srgbClr val="FFFFFF">
                        <a:alpha val="100000"/>
                      </a:srgbClr>
                    </a:solidFill>
                  </a:tcPr>
                </a:tc>
                <a:tc>
                  <a:txBody>
                    <a:bodyPr/>
                    <a:lstStyle/>
                    <a:p>
                      <a:pPr indent="0" algn="ctr">
                        <a:lnSpc>
                          <a:spcPct val="100000"/>
                        </a:lnSpc>
                        <a:defRPr/>
                      </a:pPr>
                      <a:r>
                        <a:rPr lang="en-US" sz="1300" b="0" i="0" u="none" strike="noStrike">
                          <a:solidFill>
                            <a:srgbClr val="37474F"/>
                          </a:solidFill>
                          <a:latin typeface="Noto Sans SC"/>
                          <a:ea typeface="Noto Sans SC"/>
                          <a:cs typeface="Noto Sans SC"/>
                          <a:sym typeface="Noto Sans SC"/>
                        </a:rPr>
                        <a:t>0</a:t>
                      </a:r>
                      <a:endParaRPr lang="en-US" sz="1100"/>
                    </a:p>
                  </a:txBody>
                  <a:tcPr marL="101600" marR="101600" marT="101600" marB="101600">
                    <a:lnL>
                      <a:noFill/>
                    </a:lnL>
                    <a:lnR>
                      <a:noFill/>
                    </a:lnR>
                    <a:lnT>
                      <a:noFill/>
                    </a:lnT>
                    <a:lnB>
                      <a:noFill/>
                    </a:lnB>
                    <a:solidFill>
                      <a:srgbClr val="FFFFFF">
                        <a:alpha val="100000"/>
                      </a:srgbClr>
                    </a:solidFill>
                  </a:tcPr>
                </a:tc>
                <a:tc>
                  <a:txBody>
                    <a:bodyPr/>
                    <a:lstStyle/>
                    <a:p>
                      <a:pPr indent="0" algn="ctr">
                        <a:lnSpc>
                          <a:spcPct val="100000"/>
                        </a:lnSpc>
                        <a:defRPr/>
                      </a:pPr>
                      <a:r>
                        <a:rPr lang="en-US" sz="1300" b="1" i="0" u="none" strike="noStrike">
                          <a:solidFill>
                            <a:srgbClr val="388E3C"/>
                          </a:solidFill>
                          <a:latin typeface="Noto Sans SC"/>
                          <a:ea typeface="Noto Sans SC"/>
                          <a:cs typeface="Noto Sans SC"/>
                          <a:sym typeface="Noto Sans SC"/>
                        </a:rPr>
                        <a:t>0%</a:t>
                      </a:r>
                      <a:endParaRPr lang="en-US" sz="1100"/>
                    </a:p>
                  </a:txBody>
                  <a:tcPr marL="101600" marR="101600" marT="101600" marB="101600">
                    <a:lnL>
                      <a:noFill/>
                    </a:lnL>
                    <a:lnR>
                      <a:noFill/>
                    </a:lnR>
                    <a:lnT>
                      <a:noFill/>
                    </a:lnT>
                    <a:lnB>
                      <a:noFill/>
                    </a:lnB>
                    <a:solidFill>
                      <a:srgbClr val="FFFFFF">
                        <a:alpha val="100000"/>
                      </a:srgbClr>
                    </a:solidFill>
                  </a:tcPr>
                </a:tc>
                <a:extLst>
                  <a:ext uri="{0D108BD9-81ED-4DB2-BD59-A6C34878D82A}">
                    <a16:rowId xmlns:a16="http://schemas.microsoft.com/office/drawing/2014/main" val="10002"/>
                  </a:ext>
                </a:extLst>
              </a:tr>
              <a:tr h="355600">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panose="020B0604020202090204"/>
                        <a:buNone/>
                        <a:tabLst/>
                        <a:defRPr/>
                      </a:pPr>
                      <a:r>
                        <a:rPr lang="en-US" sz="1300" b="0" i="0" u="none" strike="noStrike" dirty="0">
                          <a:solidFill>
                            <a:srgbClr val="37474F"/>
                          </a:solidFill>
                          <a:latin typeface="Noto Sans SC"/>
                          <a:ea typeface="Noto Sans SC"/>
                          <a:cs typeface="Noto Sans SC"/>
                          <a:sym typeface="Noto Sans SC"/>
                        </a:rPr>
                        <a:t>l</a:t>
                      </a:r>
                      <a:r>
                        <a:rPr lang="en" altLang="zh-CN" sz="1100" dirty="0" err="1"/>
                        <a:t>listedAt</a:t>
                      </a:r>
                      <a:r>
                        <a:rPr lang="en" altLang="zh-CN" sz="1100" dirty="0"/>
                        <a:t> (publish time)</a:t>
                      </a:r>
                      <a:endParaRPr lang="en-US" sz="1100" dirty="0"/>
                    </a:p>
                  </a:txBody>
                  <a:tcPr marL="101600" marR="101600" marT="101600" marB="101600">
                    <a:lnL>
                      <a:noFill/>
                    </a:lnL>
                    <a:lnR>
                      <a:noFill/>
                    </a:lnR>
                    <a:lnT>
                      <a:noFill/>
                    </a:lnT>
                    <a:lnB>
                      <a:noFill/>
                    </a:lnB>
                    <a:solidFill>
                      <a:srgbClr val="ECF3FF">
                        <a:alpha val="100000"/>
                      </a:srgbClr>
                    </a:solidFill>
                  </a:tcPr>
                </a:tc>
                <a:tc>
                  <a:txBody>
                    <a:bodyPr/>
                    <a:lstStyle/>
                    <a:p>
                      <a:pPr indent="0" algn="ctr">
                        <a:lnSpc>
                          <a:spcPct val="100000"/>
                        </a:lnSpc>
                        <a:defRPr/>
                      </a:pPr>
                      <a:r>
                        <a:rPr lang="en-US" sz="1300" b="0" i="0" u="none" strike="noStrike">
                          <a:solidFill>
                            <a:srgbClr val="37474F"/>
                          </a:solidFill>
                          <a:latin typeface="Noto Sans SC"/>
                          <a:ea typeface="Noto Sans SC"/>
                          <a:cs typeface="Noto Sans SC"/>
                          <a:sym typeface="Noto Sans SC"/>
                        </a:rPr>
                        <a:t>0</a:t>
                      </a:r>
                      <a:endParaRPr lang="en-US" sz="1100"/>
                    </a:p>
                  </a:txBody>
                  <a:tcPr marL="101600" marR="101600" marT="101600" marB="101600">
                    <a:lnL>
                      <a:noFill/>
                    </a:lnL>
                    <a:lnR>
                      <a:noFill/>
                    </a:lnR>
                    <a:lnT>
                      <a:noFill/>
                    </a:lnT>
                    <a:lnB>
                      <a:noFill/>
                    </a:lnB>
                    <a:solidFill>
                      <a:srgbClr val="ECF3FF">
                        <a:alpha val="100000"/>
                      </a:srgbClr>
                    </a:solidFill>
                  </a:tcPr>
                </a:tc>
                <a:tc>
                  <a:txBody>
                    <a:bodyPr/>
                    <a:lstStyle/>
                    <a:p>
                      <a:pPr indent="0" algn="ctr">
                        <a:lnSpc>
                          <a:spcPct val="100000"/>
                        </a:lnSpc>
                        <a:defRPr/>
                      </a:pPr>
                      <a:r>
                        <a:rPr lang="en-US" sz="1300" b="1" i="0" u="none" strike="noStrike" dirty="0">
                          <a:solidFill>
                            <a:srgbClr val="388E3C"/>
                          </a:solidFill>
                          <a:latin typeface="Noto Sans SC"/>
                          <a:ea typeface="Noto Sans SC"/>
                          <a:cs typeface="Noto Sans SC"/>
                          <a:sym typeface="Noto Sans SC"/>
                        </a:rPr>
                        <a:t>0%</a:t>
                      </a:r>
                      <a:endParaRPr lang="en-US" sz="1100" dirty="0"/>
                    </a:p>
                  </a:txBody>
                  <a:tcPr marL="101600" marR="101600" marT="101600" marB="101600">
                    <a:lnL>
                      <a:noFill/>
                    </a:lnL>
                    <a:lnR>
                      <a:noFill/>
                    </a:lnR>
                    <a:lnT>
                      <a:noFill/>
                    </a:lnT>
                    <a:lnB>
                      <a:noFill/>
                    </a:lnB>
                    <a:solidFill>
                      <a:srgbClr val="ECF3FF">
                        <a:alpha val="100000"/>
                      </a:srgbClr>
                    </a:solidFill>
                  </a:tcPr>
                </a:tc>
                <a:extLst>
                  <a:ext uri="{0D108BD9-81ED-4DB2-BD59-A6C34878D82A}">
                    <a16:rowId xmlns:a16="http://schemas.microsoft.com/office/drawing/2014/main" val="10003"/>
                  </a:ext>
                </a:extLst>
              </a:tr>
            </a:tbl>
          </a:graphicData>
        </a:graphic>
      </p:graphicFrame>
      <p:sp>
        <p:nvSpPr>
          <p:cNvPr id="16" name="AutoShape 16"/>
          <p:cNvSpPr/>
          <p:nvPr/>
        </p:nvSpPr>
        <p:spPr>
          <a:xfrm>
            <a:off x="6479309" y="3822700"/>
            <a:ext cx="4572000" cy="25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dirty="0">
                <a:solidFill>
                  <a:srgbClr val="90A4AE"/>
                </a:solidFill>
                <a:latin typeface="Noto Sans SC"/>
                <a:ea typeface="Noto Sans SC"/>
                <a:cs typeface="Noto Sans SC"/>
                <a:sym typeface="Noto Sans SC"/>
              </a:rPr>
              <a:t>Outlier Check:</a:t>
            </a:r>
            <a:endParaRPr lang="en-US" sz="1100" dirty="0"/>
          </a:p>
        </p:txBody>
      </p:sp>
      <p:sp>
        <p:nvSpPr>
          <p:cNvPr id="17" name="AutoShape 17"/>
          <p:cNvSpPr/>
          <p:nvPr/>
        </p:nvSpPr>
        <p:spPr>
          <a:xfrm>
            <a:off x="6604000" y="4000500"/>
            <a:ext cx="4572000" cy="508000"/>
          </a:xfrm>
          <a:prstGeom prst="roundRect">
            <a:avLst>
              <a:gd name="adj" fmla="val 12500"/>
            </a:avLst>
          </a:prstGeom>
          <a:solidFill>
            <a:srgbClr val="ECF3FF">
              <a:alpha val="100000"/>
            </a:srgbClr>
          </a:solidFill>
          <a:ln w="25400" cap="flat" cmpd="sng">
            <a:noFill/>
            <a:prstDash val="solid"/>
            <a:round/>
          </a:ln>
        </p:spPr>
        <p:txBody>
          <a:bodyPr vert="horz" wrap="square" lIns="0" tIns="0" rIns="0" bIns="0" rtlCol="0" anchor="ctr" anchorCtr="0"/>
          <a:lstStyle/>
          <a:p>
            <a:pPr algn="ctr">
              <a:defRPr/>
            </a:pPr>
            <a:endParaRPr/>
          </a:p>
        </p:txBody>
      </p:sp>
      <p:pic>
        <p:nvPicPr>
          <p:cNvPr id="18" name="Picture 18"/>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6731000" y="4152900"/>
            <a:ext cx="203200" cy="203200"/>
          </a:xfrm>
          <a:prstGeom prst="rect">
            <a:avLst/>
          </a:prstGeom>
        </p:spPr>
      </p:pic>
      <p:sp>
        <p:nvSpPr>
          <p:cNvPr id="19" name="AutoShape 19"/>
          <p:cNvSpPr/>
          <p:nvPr/>
        </p:nvSpPr>
        <p:spPr>
          <a:xfrm>
            <a:off x="6985000" y="4089400"/>
            <a:ext cx="406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1" i="0" u="none" strike="noStrike" dirty="0">
                <a:solidFill>
                  <a:srgbClr val="37474F"/>
                </a:solidFill>
                <a:latin typeface="Noto Sans SC"/>
                <a:ea typeface="Noto Sans SC"/>
                <a:cs typeface="Noto Sans SC"/>
                <a:sym typeface="Noto Sans SC"/>
              </a:rPr>
              <a:t>Time </a:t>
            </a:r>
            <a:r>
              <a:rPr lang="en-US" sz="1100" b="1" i="0" u="none" strike="noStrike" dirty="0" err="1">
                <a:solidFill>
                  <a:srgbClr val="37474F"/>
                </a:solidFill>
                <a:latin typeface="Noto Sans SC"/>
                <a:ea typeface="Noto Sans SC"/>
                <a:cs typeface="Noto Sans SC"/>
                <a:sym typeface="Noto Sans SC"/>
              </a:rPr>
              <a:t>Anomalies:</a:t>
            </a:r>
            <a:r>
              <a:rPr lang="en-US" sz="1100" b="0" i="0" u="none" strike="noStrike" dirty="0" err="1">
                <a:solidFill>
                  <a:srgbClr val="37474F"/>
                </a:solidFill>
                <a:latin typeface="Noto Sans SC"/>
                <a:ea typeface="Noto Sans SC"/>
                <a:cs typeface="Noto Sans SC"/>
                <a:sym typeface="Noto Sans SC"/>
              </a:rPr>
              <a:t>None</a:t>
            </a:r>
            <a:r>
              <a:rPr lang="en-US" sz="1100" b="0" i="0" u="none" strike="noStrike" dirty="0">
                <a:solidFill>
                  <a:srgbClr val="37474F"/>
                </a:solidFill>
                <a:latin typeface="Noto Sans SC"/>
                <a:ea typeface="Noto Sans SC"/>
                <a:cs typeface="Noto Sans SC"/>
                <a:sym typeface="Noto Sans SC"/>
              </a:rPr>
              <a:t>, all records are within the specified time range.</a:t>
            </a:r>
            <a:endParaRPr lang="en-US" sz="1100" dirty="0"/>
          </a:p>
        </p:txBody>
      </p:sp>
      <p:sp>
        <p:nvSpPr>
          <p:cNvPr id="20" name="AutoShape 20"/>
          <p:cNvSpPr/>
          <p:nvPr/>
        </p:nvSpPr>
        <p:spPr>
          <a:xfrm>
            <a:off x="6604000" y="4572000"/>
            <a:ext cx="4572000" cy="508000"/>
          </a:xfrm>
          <a:prstGeom prst="roundRect">
            <a:avLst>
              <a:gd name="adj" fmla="val 12500"/>
            </a:avLst>
          </a:prstGeom>
          <a:solidFill>
            <a:srgbClr val="ECF3FF">
              <a:alpha val="100000"/>
            </a:srgbClr>
          </a:solidFill>
          <a:ln w="25400" cap="flat" cmpd="sng">
            <a:noFill/>
            <a:prstDash val="solid"/>
            <a:round/>
          </a:ln>
        </p:spPr>
        <p:txBody>
          <a:bodyPr vert="horz" wrap="square" lIns="0" tIns="0" rIns="0" bIns="0" rtlCol="0" anchor="ctr" anchorCtr="0"/>
          <a:lstStyle/>
          <a:p>
            <a:pPr algn="ctr">
              <a:defRPr/>
            </a:pPr>
            <a:endParaRPr/>
          </a:p>
        </p:txBody>
      </p:sp>
      <p:pic>
        <p:nvPicPr>
          <p:cNvPr id="21" name="Picture 21"/>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6731000" y="4724400"/>
            <a:ext cx="203200" cy="203200"/>
          </a:xfrm>
          <a:prstGeom prst="rect">
            <a:avLst/>
          </a:prstGeom>
        </p:spPr>
      </p:pic>
      <p:sp>
        <p:nvSpPr>
          <p:cNvPr id="22" name="AutoShape 22"/>
          <p:cNvSpPr/>
          <p:nvPr/>
        </p:nvSpPr>
        <p:spPr>
          <a:xfrm>
            <a:off x="6985000" y="4660900"/>
            <a:ext cx="406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1" i="0" u="none" strike="noStrike" dirty="0">
                <a:solidFill>
                  <a:srgbClr val="37474F"/>
                </a:solidFill>
                <a:latin typeface="Noto Sans SC"/>
                <a:ea typeface="Noto Sans SC"/>
                <a:cs typeface="Noto Sans SC"/>
                <a:sym typeface="Noto Sans SC"/>
              </a:rPr>
              <a:t>Category </a:t>
            </a:r>
            <a:r>
              <a:rPr lang="en-US" sz="1100" b="1" i="0" u="none" strike="noStrike">
                <a:solidFill>
                  <a:srgbClr val="37474F"/>
                </a:solidFill>
                <a:latin typeface="Noto Sans SC"/>
                <a:ea typeface="Noto Sans SC"/>
                <a:cs typeface="Noto Sans SC"/>
                <a:sym typeface="Noto Sans SC"/>
              </a:rPr>
              <a:t>Anomalies:</a:t>
            </a:r>
            <a:r>
              <a:rPr lang="en-US" sz="1100" b="0" i="0" u="none" strike="noStrike">
                <a:solidFill>
                  <a:srgbClr val="37474F"/>
                </a:solidFill>
                <a:latin typeface="Noto Sans SC"/>
                <a:ea typeface="Noto Sans SC"/>
                <a:cs typeface="Noto Sans SC"/>
                <a:sym typeface="Noto Sans SC"/>
              </a:rPr>
              <a:t>None, location and classification fields are standardized and valid.</a:t>
            </a:r>
            <a:endParaRPr lang="en-US" sz="1100"/>
          </a:p>
        </p:txBody>
      </p:sp>
      <p:sp>
        <p:nvSpPr>
          <p:cNvPr id="23" name="AutoShape 23"/>
          <p:cNvSpPr/>
          <p:nvPr/>
        </p:nvSpPr>
        <p:spPr>
          <a:xfrm>
            <a:off x="6604000" y="5143500"/>
            <a:ext cx="4572000" cy="508000"/>
          </a:xfrm>
          <a:prstGeom prst="roundRect">
            <a:avLst>
              <a:gd name="adj" fmla="val 12500"/>
            </a:avLst>
          </a:prstGeom>
          <a:solidFill>
            <a:srgbClr val="ECF3FF">
              <a:alpha val="100000"/>
            </a:srgbClr>
          </a:solidFill>
          <a:ln w="25400" cap="flat" cmpd="sng">
            <a:noFill/>
            <a:prstDash val="solid"/>
            <a:round/>
          </a:ln>
        </p:spPr>
        <p:txBody>
          <a:bodyPr vert="horz" wrap="square" lIns="0" tIns="0" rIns="0" bIns="0" rtlCol="0" anchor="ctr" anchorCtr="0"/>
          <a:lstStyle/>
          <a:p>
            <a:pPr algn="ctr">
              <a:defRPr/>
            </a:pPr>
            <a:endParaRPr/>
          </a:p>
        </p:txBody>
      </p:sp>
      <p:pic>
        <p:nvPicPr>
          <p:cNvPr id="24" name="Picture 24"/>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6731000" y="5295900"/>
            <a:ext cx="203200" cy="203200"/>
          </a:xfrm>
          <a:prstGeom prst="rect">
            <a:avLst/>
          </a:prstGeom>
        </p:spPr>
      </p:pic>
      <p:sp>
        <p:nvSpPr>
          <p:cNvPr id="25" name="AutoShape 25"/>
          <p:cNvSpPr/>
          <p:nvPr/>
        </p:nvSpPr>
        <p:spPr>
          <a:xfrm>
            <a:off x="6985000" y="5232400"/>
            <a:ext cx="4064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1" i="0" u="none" strike="noStrike" dirty="0">
                <a:solidFill>
                  <a:srgbClr val="37474F"/>
                </a:solidFill>
                <a:latin typeface="Noto Sans SC"/>
                <a:ea typeface="Noto Sans SC"/>
                <a:cs typeface="Noto Sans SC"/>
                <a:sym typeface="Noto Sans SC"/>
              </a:rPr>
              <a:t>Salary </a:t>
            </a:r>
            <a:r>
              <a:rPr lang="en-US" sz="1100" b="1" i="0" u="none" strike="noStrike" dirty="0" err="1">
                <a:solidFill>
                  <a:srgbClr val="37474F"/>
                </a:solidFill>
                <a:latin typeface="Noto Sans SC"/>
                <a:ea typeface="Noto Sans SC"/>
                <a:cs typeface="Noto Sans SC"/>
                <a:sym typeface="Noto Sans SC"/>
              </a:rPr>
              <a:t>Anomalies:</a:t>
            </a:r>
            <a:r>
              <a:rPr lang="en-US" sz="1100" b="0" i="0" u="none" strike="noStrike" dirty="0" err="1">
                <a:solidFill>
                  <a:srgbClr val="37474F"/>
                </a:solidFill>
                <a:latin typeface="Noto Sans SC"/>
                <a:ea typeface="Noto Sans SC"/>
                <a:cs typeface="Noto Sans SC"/>
                <a:sym typeface="Noto Sans SC"/>
              </a:rPr>
              <a:t>For</a:t>
            </a:r>
            <a:r>
              <a:rPr lang="en-US" sz="1100" b="0" i="0" u="none" strike="noStrike" dirty="0">
                <a:solidFill>
                  <a:srgbClr val="37474F"/>
                </a:solidFill>
                <a:latin typeface="Noto Sans SC"/>
                <a:ea typeface="Noto Sans SC"/>
                <a:cs typeface="Noto Sans SC"/>
                <a:sym typeface="Noto Sans SC"/>
              </a:rPr>
              <a:t> positions with clear salary records, the range is in line with market levels with no extreme values.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3"/>
          <a:srcRect/>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190500"/>
            <a:ext cx="12192000" cy="6858000"/>
          </a:xfrm>
          <a:prstGeom prst="roundRect">
            <a:avLst>
              <a:gd name="adj" fmla="val 0"/>
            </a:avLst>
          </a:prstGeom>
          <a:solidFill>
            <a:srgbClr val="FFFFFF">
              <a:alpha val="85000"/>
            </a:srgbClr>
          </a:solidFill>
          <a:ln w="25400" cap="flat" cmpd="sng">
            <a:noFill/>
            <a:prstDash val="solid"/>
            <a:round/>
          </a:ln>
        </p:spPr>
        <p:txBody>
          <a:bodyPr vert="horz" wrap="square" lIns="63500" tIns="63500" rIns="63500" bIns="63500" rtlCol="0" anchor="ctr"/>
          <a:lstStyle/>
          <a:p>
            <a:pPr algn="ctr">
              <a:defRPr/>
            </a:pPr>
            <a:endParaRPr/>
          </a:p>
        </p:txBody>
      </p:sp>
      <p:sp>
        <p:nvSpPr>
          <p:cNvPr id="4" name="AutoShape 4"/>
          <p:cNvSpPr/>
          <p:nvPr/>
        </p:nvSpPr>
        <p:spPr>
          <a:xfrm>
            <a:off x="762000" y="508000"/>
            <a:ext cx="3530600" cy="635000"/>
          </a:xfrm>
          <a:prstGeom prst="rect">
            <a:avLst/>
          </a:prstGeom>
          <a:noFill/>
          <a:ln w="12700" cap="flat" cmpd="sng">
            <a:noFill/>
            <a:prstDash val="solid"/>
            <a:round/>
          </a:ln>
        </p:spPr>
        <p:txBody>
          <a:bodyPr vert="horz" wrap="none" lIns="0" tIns="0" rIns="0" bIns="0" rtlCol="0" anchor="ctr" anchorCtr="0"/>
          <a:lstStyle/>
          <a:p>
            <a:pPr indent="0" algn="l">
              <a:lnSpc>
                <a:spcPct val="125000"/>
              </a:lnSpc>
              <a:defRPr/>
            </a:pPr>
            <a:r>
              <a:rPr lang="en-US" sz="3600" b="1" i="0" u="none" strike="noStrike">
                <a:solidFill>
                  <a:srgbClr val="0D47A1"/>
                </a:solidFill>
                <a:latin typeface="Noto Sans SC"/>
                <a:ea typeface="Noto Sans SC"/>
                <a:cs typeface="Noto Sans SC"/>
                <a:sym typeface="Noto Sans SC"/>
              </a:rPr>
              <a:t>Data Distribution and Summary</a:t>
            </a:r>
            <a:endParaRPr lang="en-US" sz="1100"/>
          </a:p>
        </p:txBody>
      </p:sp>
      <p:sp>
        <p:nvSpPr>
          <p:cNvPr id="5" name="AutoShape 5"/>
          <p:cNvSpPr/>
          <p:nvPr/>
        </p:nvSpPr>
        <p:spPr>
          <a:xfrm>
            <a:off x="762000" y="1270000"/>
            <a:ext cx="1066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dirty="0">
                <a:solidFill>
                  <a:srgbClr val="0D47A1"/>
                </a:solidFill>
                <a:latin typeface="Noto Sans SC"/>
                <a:ea typeface="Noto Sans SC"/>
                <a:cs typeface="Noto Sans SC"/>
                <a:sym typeface="Noto Sans SC"/>
              </a:rPr>
              <a:t>▍Basic Data Distribution Overview</a:t>
            </a:r>
            <a:endParaRPr lang="en-US" sz="1100" dirty="0"/>
          </a:p>
        </p:txBody>
      </p:sp>
      <p:sp>
        <p:nvSpPr>
          <p:cNvPr id="6" name="AutoShape 6"/>
          <p:cNvSpPr/>
          <p:nvPr/>
        </p:nvSpPr>
        <p:spPr>
          <a:xfrm>
            <a:off x="762000" y="1618374"/>
            <a:ext cx="3556000" cy="1714500"/>
          </a:xfrm>
          <a:prstGeom prst="roundRect">
            <a:avLst>
              <a:gd name="adj" fmla="val 9090"/>
            </a:avLst>
          </a:prstGeom>
          <a:solidFill>
            <a:srgbClr val="FFFFFF">
              <a:alpha val="100000"/>
            </a:srgbClr>
          </a:solidFill>
          <a:ln w="12700" cap="flat" cmpd="sng">
            <a:solidFill>
              <a:srgbClr val="BBDEFB">
                <a:alpha val="100000"/>
              </a:srgbClr>
            </a:solidFill>
            <a:prstDash val="solid"/>
            <a:round/>
          </a:ln>
          <a:effectLst>
            <a:outerShdw blurRad="127000" dist="50800" dir="5400000" algn="tl" rotWithShape="0">
              <a:srgbClr val="0D47A1">
                <a:alpha val="10000"/>
              </a:srgbClr>
            </a:outerShdw>
          </a:effectLst>
        </p:spPr>
        <p:txBody>
          <a:bodyPr vert="horz" wrap="square" lIns="63500" tIns="63500" rIns="63500" bIns="63500" rtlCol="0" anchor="ctr"/>
          <a:lstStyle/>
          <a:p>
            <a:pPr algn="ctr">
              <a:defRPr/>
            </a:pPr>
            <a:endParaRPr/>
          </a:p>
        </p:txBody>
      </p:sp>
      <p:pic>
        <p:nvPicPr>
          <p:cNvPr id="7" name="Picture 7"/>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52500" y="1905000"/>
            <a:ext cx="406400" cy="406400"/>
          </a:xfrm>
          <a:prstGeom prst="rect">
            <a:avLst/>
          </a:prstGeom>
        </p:spPr>
      </p:pic>
      <p:sp>
        <p:nvSpPr>
          <p:cNvPr id="8" name="AutoShape 8"/>
          <p:cNvSpPr/>
          <p:nvPr/>
        </p:nvSpPr>
        <p:spPr>
          <a:xfrm>
            <a:off x="1460500" y="1879600"/>
            <a:ext cx="2540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dirty="0">
                <a:solidFill>
                  <a:srgbClr val="0D47A1"/>
                </a:solidFill>
                <a:latin typeface="Noto Sans SC"/>
                <a:ea typeface="Noto Sans SC"/>
                <a:cs typeface="Noto Sans SC"/>
                <a:sym typeface="Noto Sans SC"/>
              </a:rPr>
              <a:t>Industry &amp; Time Distribution</a:t>
            </a:r>
            <a:endParaRPr lang="en-US" sz="1100" dirty="0"/>
          </a:p>
        </p:txBody>
      </p:sp>
      <p:sp>
        <p:nvSpPr>
          <p:cNvPr id="9" name="AutoShape 9"/>
          <p:cNvSpPr/>
          <p:nvPr/>
        </p:nvSpPr>
        <p:spPr>
          <a:xfrm>
            <a:off x="952500" y="2280526"/>
            <a:ext cx="3238498" cy="830974"/>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100" b="0" i="0" u="none" strike="noStrike" dirty="0">
                <a:solidFill>
                  <a:srgbClr val="455A64"/>
                </a:solidFill>
                <a:latin typeface="Noto Sans SC"/>
                <a:ea typeface="Noto Sans SC"/>
                <a:cs typeface="Noto Sans SC"/>
                <a:sym typeface="Noto Sans SC"/>
              </a:rPr>
              <a:t>IT and Finance industries maintain comparable recruitment scales (IT: 16,410 records, Finance: 12,682 records), with overall recruitment volume showing a steady quarterly upward trend from November 2025 to February 2026.</a:t>
            </a:r>
            <a:endParaRPr lang="en-US" sz="1100" dirty="0"/>
          </a:p>
        </p:txBody>
      </p:sp>
      <p:sp>
        <p:nvSpPr>
          <p:cNvPr id="10" name="AutoShape 10"/>
          <p:cNvSpPr/>
          <p:nvPr/>
        </p:nvSpPr>
        <p:spPr>
          <a:xfrm>
            <a:off x="4419600" y="1618374"/>
            <a:ext cx="3390900" cy="1683626"/>
          </a:xfrm>
          <a:prstGeom prst="roundRect">
            <a:avLst>
              <a:gd name="adj" fmla="val 9090"/>
            </a:avLst>
          </a:prstGeom>
          <a:solidFill>
            <a:srgbClr val="FFFFFF">
              <a:alpha val="100000"/>
            </a:srgbClr>
          </a:solidFill>
          <a:ln w="12700" cap="flat" cmpd="sng">
            <a:solidFill>
              <a:srgbClr val="BBDEFB">
                <a:alpha val="100000"/>
              </a:srgbClr>
            </a:solidFill>
            <a:prstDash val="solid"/>
            <a:round/>
          </a:ln>
          <a:effectLst>
            <a:outerShdw blurRad="127000" dist="50800" dir="5400000" algn="tl" rotWithShape="0">
              <a:srgbClr val="0D47A1">
                <a:alpha val="10000"/>
              </a:srgbClr>
            </a:outerShdw>
          </a:effectLst>
        </p:spPr>
        <p:txBody>
          <a:bodyPr vert="horz" wrap="square" lIns="63500" tIns="63500" rIns="63500" bIns="63500" rtlCol="0" anchor="ctr"/>
          <a:lstStyle/>
          <a:p>
            <a:pPr algn="ctr">
              <a:defRPr/>
            </a:pPr>
            <a:endParaRPr/>
          </a:p>
        </p:txBody>
      </p:sp>
      <p:pic>
        <p:nvPicPr>
          <p:cNvPr id="11" name="Picture 11"/>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572000" y="1905000"/>
            <a:ext cx="406400" cy="406400"/>
          </a:xfrm>
          <a:prstGeom prst="rect">
            <a:avLst/>
          </a:prstGeom>
        </p:spPr>
      </p:pic>
      <p:sp>
        <p:nvSpPr>
          <p:cNvPr id="12" name="AutoShape 12"/>
          <p:cNvSpPr/>
          <p:nvPr/>
        </p:nvSpPr>
        <p:spPr>
          <a:xfrm>
            <a:off x="5080000" y="1879600"/>
            <a:ext cx="2540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D47A1"/>
                </a:solidFill>
                <a:latin typeface="Noto Sans SC"/>
                <a:ea typeface="Noto Sans SC"/>
                <a:cs typeface="Noto Sans SC"/>
                <a:sym typeface="Noto Sans SC"/>
              </a:rPr>
              <a:t>Employment Type Distribution</a:t>
            </a:r>
            <a:endParaRPr lang="en-US" sz="1100"/>
          </a:p>
        </p:txBody>
      </p:sp>
      <p:sp>
        <p:nvSpPr>
          <p:cNvPr id="13" name="AutoShape 13"/>
          <p:cNvSpPr/>
          <p:nvPr/>
        </p:nvSpPr>
        <p:spPr>
          <a:xfrm>
            <a:off x="4572000" y="2286000"/>
            <a:ext cx="3048000" cy="762000"/>
          </a:xfrm>
          <a:prstGeom prst="rect">
            <a:avLst/>
          </a:prstGeom>
          <a:noFill/>
          <a:ln w="12700" cap="flat" cmpd="sng">
            <a:noFill/>
            <a:prstDash val="solid"/>
            <a:round/>
          </a:ln>
        </p:spPr>
        <p:txBody>
          <a:bodyPr vert="horz" wrap="square" lIns="0" tIns="0" rIns="0" bIns="0" rtlCol="0" anchor="ctr" anchorCtr="0"/>
          <a:lstStyle/>
          <a:p>
            <a:pPr>
              <a:defRPr/>
            </a:pPr>
            <a:r>
              <a:rPr lang="en-US" sz="1200" b="0" i="0" u="none" strike="noStrike" dirty="0">
                <a:solidFill>
                  <a:srgbClr val="455A64"/>
                </a:solidFill>
                <a:latin typeface="Noto Sans SC"/>
                <a:ea typeface="Noto Sans SC"/>
                <a:cs typeface="Noto Sans SC"/>
                <a:sym typeface="Noto Sans SC"/>
              </a:rPr>
              <a:t>Full-time positions are absolutely dominant, accounting for over 97% of total roles, with part-time and other employment types accounting for a very small proportion.</a:t>
            </a:r>
          </a:p>
        </p:txBody>
      </p:sp>
      <p:sp>
        <p:nvSpPr>
          <p:cNvPr id="14" name="AutoShape 14"/>
          <p:cNvSpPr/>
          <p:nvPr/>
        </p:nvSpPr>
        <p:spPr>
          <a:xfrm>
            <a:off x="8001000" y="1714500"/>
            <a:ext cx="3429000" cy="1397000"/>
          </a:xfrm>
          <a:prstGeom prst="roundRect">
            <a:avLst>
              <a:gd name="adj" fmla="val 9090"/>
            </a:avLst>
          </a:prstGeom>
          <a:solidFill>
            <a:srgbClr val="FFFFFF">
              <a:alpha val="100000"/>
            </a:srgbClr>
          </a:solidFill>
          <a:ln w="12700" cap="flat" cmpd="sng">
            <a:solidFill>
              <a:srgbClr val="BBDEFB">
                <a:alpha val="100000"/>
              </a:srgbClr>
            </a:solidFill>
            <a:prstDash val="solid"/>
            <a:round/>
          </a:ln>
          <a:effectLst>
            <a:outerShdw blurRad="127000" dist="50800" dir="5400000" algn="tl" rotWithShape="0">
              <a:srgbClr val="0D47A1">
                <a:alpha val="10000"/>
              </a:srgbClr>
            </a:outerShdw>
          </a:effectLst>
        </p:spPr>
        <p:txBody>
          <a:bodyPr vert="horz" wrap="square" lIns="63500" tIns="63500" rIns="63500" bIns="63500" rtlCol="0" anchor="ctr"/>
          <a:lstStyle/>
          <a:p>
            <a:pPr algn="ctr">
              <a:defRPr/>
            </a:pPr>
            <a:endParaRPr/>
          </a:p>
        </p:txBody>
      </p:sp>
      <p:pic>
        <p:nvPicPr>
          <p:cNvPr id="15" name="Picture 15"/>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8191500" y="1905000"/>
            <a:ext cx="406400" cy="406400"/>
          </a:xfrm>
          <a:prstGeom prst="rect">
            <a:avLst/>
          </a:prstGeom>
        </p:spPr>
      </p:pic>
      <p:sp>
        <p:nvSpPr>
          <p:cNvPr id="16" name="AutoShape 16"/>
          <p:cNvSpPr/>
          <p:nvPr/>
        </p:nvSpPr>
        <p:spPr>
          <a:xfrm>
            <a:off x="8699500" y="1879600"/>
            <a:ext cx="2540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D47A1"/>
                </a:solidFill>
                <a:latin typeface="Noto Sans SC"/>
                <a:ea typeface="Noto Sans SC"/>
                <a:cs typeface="Noto Sans SC"/>
                <a:sym typeface="Noto Sans SC"/>
              </a:rPr>
              <a:t>Work Location Distribution</a:t>
            </a:r>
            <a:endParaRPr lang="en-US" sz="1100"/>
          </a:p>
        </p:txBody>
      </p:sp>
      <p:sp>
        <p:nvSpPr>
          <p:cNvPr id="17" name="AutoShape 17"/>
          <p:cNvSpPr/>
          <p:nvPr/>
        </p:nvSpPr>
        <p:spPr>
          <a:xfrm>
            <a:off x="8191500" y="2286000"/>
            <a:ext cx="3048000" cy="762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200" b="0" i="0" u="none" strike="noStrike" dirty="0">
                <a:solidFill>
                  <a:srgbClr val="455A64"/>
                </a:solidFill>
                <a:latin typeface="Noto Sans SC"/>
                <a:ea typeface="Noto Sans SC"/>
                <a:cs typeface="Noto Sans SC"/>
                <a:sym typeface="Noto Sans SC"/>
              </a:rPr>
              <a:t>Mainly concentrated in core business districts such as Central and Tsim Sha Tsui, with highly concentrated geographical locations.</a:t>
            </a:r>
            <a:endParaRPr lang="en-US" sz="1100" dirty="0"/>
          </a:p>
        </p:txBody>
      </p:sp>
      <p:sp>
        <p:nvSpPr>
          <p:cNvPr id="18" name="AutoShape 18"/>
          <p:cNvSpPr/>
          <p:nvPr/>
        </p:nvSpPr>
        <p:spPr>
          <a:xfrm>
            <a:off x="762000" y="3429000"/>
            <a:ext cx="1066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dirty="0">
                <a:solidFill>
                  <a:srgbClr val="0D47A1"/>
                </a:solidFill>
                <a:latin typeface="Noto Sans SC"/>
                <a:ea typeface="Noto Sans SC"/>
                <a:cs typeface="Noto Sans SC"/>
                <a:sym typeface="Noto Sans SC"/>
              </a:rPr>
              <a:t>▍Data Exploration Core Summary</a:t>
            </a:r>
            <a:endParaRPr lang="en-US" sz="1100" dirty="0"/>
          </a:p>
        </p:txBody>
      </p:sp>
      <p:sp>
        <p:nvSpPr>
          <p:cNvPr id="19" name="AutoShape 19"/>
          <p:cNvSpPr/>
          <p:nvPr/>
        </p:nvSpPr>
        <p:spPr>
          <a:xfrm>
            <a:off x="712732" y="3683000"/>
            <a:ext cx="3478267" cy="1905000"/>
          </a:xfrm>
          <a:prstGeom prst="roundRect">
            <a:avLst>
              <a:gd name="adj" fmla="val 9090"/>
            </a:avLst>
          </a:prstGeom>
          <a:solidFill>
            <a:srgbClr val="F0F7FF">
              <a:alpha val="100000"/>
            </a:srgbClr>
          </a:solidFill>
          <a:ln w="12700" cap="flat" cmpd="sng">
            <a:solidFill>
              <a:srgbClr val="0D47A1">
                <a:alpha val="20000"/>
              </a:srgbClr>
            </a:solidFill>
            <a:prstDash val="solid"/>
            <a:round/>
          </a:ln>
        </p:spPr>
        <p:txBody>
          <a:bodyPr vert="horz" wrap="square" lIns="63500" tIns="63500" rIns="63500" bIns="63500" rtlCol="0" anchor="ctr"/>
          <a:lstStyle/>
          <a:p>
            <a:pPr algn="ctr">
              <a:defRPr/>
            </a:pPr>
            <a:endParaRPr lang="zh-CN" altLang="en-US" dirty="0"/>
          </a:p>
        </p:txBody>
      </p:sp>
      <p:pic>
        <p:nvPicPr>
          <p:cNvPr id="20" name="Picture 20"/>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952500" y="4064000"/>
            <a:ext cx="355600" cy="355600"/>
          </a:xfrm>
          <a:prstGeom prst="rect">
            <a:avLst/>
          </a:prstGeom>
        </p:spPr>
      </p:pic>
      <p:sp>
        <p:nvSpPr>
          <p:cNvPr id="21" name="AutoShape 21"/>
          <p:cNvSpPr/>
          <p:nvPr/>
        </p:nvSpPr>
        <p:spPr>
          <a:xfrm>
            <a:off x="1397000" y="4038600"/>
            <a:ext cx="2540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dirty="0">
                <a:solidFill>
                  <a:srgbClr val="0D47A1"/>
                </a:solidFill>
                <a:latin typeface="Noto Sans SC"/>
                <a:ea typeface="Noto Sans SC"/>
                <a:cs typeface="Noto Sans SC"/>
                <a:sym typeface="Noto Sans SC"/>
              </a:rPr>
              <a:t>Data Completeness</a:t>
            </a:r>
            <a:endParaRPr lang="en-US" sz="1100" dirty="0"/>
          </a:p>
        </p:txBody>
      </p:sp>
      <p:sp>
        <p:nvSpPr>
          <p:cNvPr id="22" name="AutoShape 22"/>
          <p:cNvSpPr/>
          <p:nvPr/>
        </p:nvSpPr>
        <p:spPr>
          <a:xfrm>
            <a:off x="774262" y="4285374"/>
            <a:ext cx="3353238" cy="1035926"/>
          </a:xfrm>
          <a:prstGeom prst="rect">
            <a:avLst/>
          </a:prstGeom>
          <a:noFill/>
          <a:ln w="12700" cap="flat" cmpd="sng">
            <a:noFill/>
            <a:prstDash val="solid"/>
            <a:round/>
          </a:ln>
        </p:spPr>
        <p:txBody>
          <a:bodyPr vert="horz" wrap="square" lIns="0" tIns="0" rIns="0" bIns="0" rtlCol="0" anchor="ctr" anchorCtr="0"/>
          <a:lstStyle/>
          <a:p>
            <a:pPr indent="0" algn="just">
              <a:lnSpc>
                <a:spcPct val="100000"/>
              </a:lnSpc>
              <a:defRPr/>
            </a:pPr>
            <a:r>
              <a:rPr lang="en" altLang="zh-CN" sz="1100" dirty="0">
                <a:latin typeface="Noto Sans Batak" panose="020B0502040504020204" pitchFamily="34" charset="0"/>
                <a:cs typeface="Noto Nastaliq Urdu" panose="020B0502040504020204" pitchFamily="34" charset="-78"/>
              </a:rPr>
              <a:t>Core business fields (location, publish time) have 100% completeness. The salary field has a missing rate of 79.86%, which does not affect the analysis of recruitment scale, time trend and location distribution</a:t>
            </a:r>
            <a:r>
              <a:rPr lang="en" altLang="zh-CN" sz="1600" dirty="0">
                <a:latin typeface="Noto Sans Batak" panose="020B0502040504020204" pitchFamily="34" charset="0"/>
                <a:cs typeface="Noto Nastaliq Urdu" panose="020B0502040504020204" pitchFamily="34" charset="-78"/>
              </a:rPr>
              <a:t>.</a:t>
            </a:r>
          </a:p>
        </p:txBody>
      </p:sp>
      <p:sp>
        <p:nvSpPr>
          <p:cNvPr id="23" name="AutoShape 23"/>
          <p:cNvSpPr/>
          <p:nvPr/>
        </p:nvSpPr>
        <p:spPr>
          <a:xfrm>
            <a:off x="4240267" y="3637236"/>
            <a:ext cx="3594100" cy="1905000"/>
          </a:xfrm>
          <a:prstGeom prst="roundRect">
            <a:avLst>
              <a:gd name="adj" fmla="val 9090"/>
            </a:avLst>
          </a:prstGeom>
          <a:solidFill>
            <a:srgbClr val="F0F7FF">
              <a:alpha val="100000"/>
            </a:srgbClr>
          </a:solidFill>
          <a:ln w="12700" cap="flat" cmpd="sng">
            <a:solidFill>
              <a:srgbClr val="0D47A1">
                <a:alpha val="20000"/>
              </a:srgbClr>
            </a:solidFill>
            <a:prstDash val="solid"/>
            <a:round/>
          </a:ln>
        </p:spPr>
        <p:txBody>
          <a:bodyPr vert="horz" wrap="square" lIns="63500" tIns="63500" rIns="63500" bIns="63500" rtlCol="0" anchor="ctr"/>
          <a:lstStyle/>
          <a:p>
            <a:pPr algn="ctr">
              <a:defRPr/>
            </a:pPr>
            <a:endParaRPr/>
          </a:p>
        </p:txBody>
      </p:sp>
      <p:pic>
        <p:nvPicPr>
          <p:cNvPr id="24" name="Picture 24"/>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4572000" y="4064000"/>
            <a:ext cx="355600" cy="355600"/>
          </a:xfrm>
          <a:prstGeom prst="rect">
            <a:avLst/>
          </a:prstGeom>
        </p:spPr>
      </p:pic>
      <p:sp>
        <p:nvSpPr>
          <p:cNvPr id="25" name="AutoShape 25"/>
          <p:cNvSpPr/>
          <p:nvPr/>
        </p:nvSpPr>
        <p:spPr>
          <a:xfrm>
            <a:off x="5016500" y="4038600"/>
            <a:ext cx="2540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D47A1"/>
                </a:solidFill>
                <a:latin typeface="Noto Sans SC"/>
                <a:ea typeface="Noto Sans SC"/>
                <a:cs typeface="Noto Sans SC"/>
                <a:sym typeface="Noto Sans SC"/>
              </a:rPr>
              <a:t>Data Validity</a:t>
            </a:r>
            <a:endParaRPr lang="en-US" sz="1100"/>
          </a:p>
        </p:txBody>
      </p:sp>
      <p:sp>
        <p:nvSpPr>
          <p:cNvPr id="26" name="AutoShape 26"/>
          <p:cNvSpPr/>
          <p:nvPr/>
        </p:nvSpPr>
        <p:spPr>
          <a:xfrm>
            <a:off x="4572000" y="4445000"/>
            <a:ext cx="3048000" cy="762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200" b="0" i="0" u="none" strike="noStrike" dirty="0">
                <a:solidFill>
                  <a:srgbClr val="455A64"/>
                </a:solidFill>
                <a:latin typeface="Noto Sans SC"/>
                <a:ea typeface="Noto Sans SC"/>
                <a:cs typeface="Noto Sans SC"/>
                <a:sym typeface="Noto Sans SC"/>
              </a:rPr>
              <a:t>Data quality is reliable with no obvious anomalies, supporting in-depth analysis.</a:t>
            </a:r>
            <a:endParaRPr lang="en-US" sz="1100" dirty="0"/>
          </a:p>
        </p:txBody>
      </p:sp>
      <p:sp>
        <p:nvSpPr>
          <p:cNvPr id="27" name="AutoShape 27"/>
          <p:cNvSpPr/>
          <p:nvPr/>
        </p:nvSpPr>
        <p:spPr>
          <a:xfrm>
            <a:off x="7923267" y="3637017"/>
            <a:ext cx="3721100" cy="1905000"/>
          </a:xfrm>
          <a:prstGeom prst="roundRect">
            <a:avLst>
              <a:gd name="adj" fmla="val 9090"/>
            </a:avLst>
          </a:prstGeom>
          <a:solidFill>
            <a:srgbClr val="F0F7FF">
              <a:alpha val="100000"/>
            </a:srgbClr>
          </a:solidFill>
          <a:ln w="12700" cap="flat" cmpd="sng">
            <a:solidFill>
              <a:srgbClr val="0D47A1">
                <a:alpha val="20000"/>
              </a:srgbClr>
            </a:solidFill>
            <a:prstDash val="solid"/>
            <a:round/>
          </a:ln>
        </p:spPr>
        <p:txBody>
          <a:bodyPr vert="horz" wrap="square" lIns="63500" tIns="63500" rIns="63500" bIns="63500" rtlCol="0" anchor="ctr"/>
          <a:lstStyle/>
          <a:p>
            <a:pPr algn="ctr">
              <a:defRPr/>
            </a:pPr>
            <a:endParaRPr/>
          </a:p>
        </p:txBody>
      </p:sp>
      <p:pic>
        <p:nvPicPr>
          <p:cNvPr id="28" name="Picture 28"/>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8191500" y="4064000"/>
            <a:ext cx="355600" cy="355600"/>
          </a:xfrm>
          <a:prstGeom prst="rect">
            <a:avLst/>
          </a:prstGeom>
        </p:spPr>
      </p:pic>
      <p:sp>
        <p:nvSpPr>
          <p:cNvPr id="29" name="AutoShape 29"/>
          <p:cNvSpPr/>
          <p:nvPr/>
        </p:nvSpPr>
        <p:spPr>
          <a:xfrm>
            <a:off x="8636000" y="4038600"/>
            <a:ext cx="2540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dirty="0">
                <a:solidFill>
                  <a:srgbClr val="0D47A1"/>
                </a:solidFill>
                <a:latin typeface="Noto Sans SC"/>
                <a:ea typeface="Noto Sans SC"/>
                <a:cs typeface="Noto Sans SC"/>
                <a:sym typeface="Noto Sans SC"/>
              </a:rPr>
              <a:t>Data Characteristics</a:t>
            </a:r>
            <a:endParaRPr lang="en-US" sz="1100" dirty="0"/>
          </a:p>
        </p:txBody>
      </p:sp>
      <p:sp>
        <p:nvSpPr>
          <p:cNvPr id="30" name="AutoShape 30"/>
          <p:cNvSpPr/>
          <p:nvPr/>
        </p:nvSpPr>
        <p:spPr>
          <a:xfrm>
            <a:off x="8059465" y="4274864"/>
            <a:ext cx="3413234" cy="1046436"/>
          </a:xfrm>
          <a:prstGeom prst="rect">
            <a:avLst/>
          </a:prstGeom>
          <a:noFill/>
          <a:ln w="12700" cap="flat" cmpd="sng">
            <a:noFill/>
            <a:prstDash val="solid"/>
            <a:round/>
          </a:ln>
        </p:spPr>
        <p:txBody>
          <a:bodyPr vert="horz" wrap="square" lIns="0" tIns="0" rIns="0" bIns="0" rtlCol="0" anchor="ctr" anchorCtr="0"/>
          <a:lstStyle/>
          <a:p>
            <a:pPr indent="0" algn="just">
              <a:lnSpc>
                <a:spcPct val="100000"/>
              </a:lnSpc>
              <a:defRPr/>
            </a:pPr>
            <a:r>
              <a:rPr lang="en-US" sz="1100" b="0" i="0" u="none" strike="noStrike" dirty="0">
                <a:solidFill>
                  <a:srgbClr val="455A64"/>
                </a:solidFill>
                <a:latin typeface="Noto Sans SC"/>
                <a:ea typeface="Noto Sans SC"/>
                <a:cs typeface="Noto Sans SC"/>
                <a:sym typeface="Noto Sans SC"/>
              </a:rPr>
              <a:t>Recruitment in Hong Kong's IT and Finance industries (total 29,092 records) is dominated by full-time positions, concentrated in core business districts, with a continuous upward trend in monthly recruitment volume.</a:t>
            </a:r>
          </a:p>
        </p:txBody>
      </p:sp>
      <p:sp>
        <p:nvSpPr>
          <p:cNvPr id="31" name="AutoShape 31"/>
          <p:cNvSpPr/>
          <p:nvPr/>
        </p:nvSpPr>
        <p:spPr>
          <a:xfrm>
            <a:off x="0" y="6781800"/>
            <a:ext cx="12192000" cy="76200"/>
          </a:xfrm>
          <a:prstGeom prst="roundRect">
            <a:avLst>
              <a:gd name="adj" fmla="val 0"/>
            </a:avLst>
          </a:prstGeom>
          <a:solidFill>
            <a:srgbClr val="0D47A1">
              <a:alpha val="100000"/>
            </a:srgbClr>
          </a:solidFill>
          <a:ln w="25400" cap="flat" cmpd="sng">
            <a:noFill/>
            <a:prstDash val="solid"/>
            <a:round/>
          </a:ln>
        </p:spPr>
        <p:txBody>
          <a:bodyPr vert="horz" wrap="square" lIns="63500" tIns="63500" rIns="63500" bIns="63500" rtlCol="0" anchor="ctr"/>
          <a:lstStyle/>
          <a:p>
            <a:pPr algn="ctr">
              <a:defRPr/>
            </a:pPr>
            <a:endParaRPr/>
          </a:p>
        </p:txBody>
      </p:sp>
    </p:spTree>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TotalTime>
  <Words>661</Words>
  <Application>Microsoft Macintosh PowerPoint</Application>
  <PresentationFormat>宽屏</PresentationFormat>
  <Paragraphs>63</Paragraphs>
  <Slides>3</Slides>
  <Notes>3</Notes>
  <HiddenSlides>0</HiddenSlides>
  <MMClips>0</MMClips>
  <ScaleCrop>false</ScaleCrop>
  <HeadingPairs>
    <vt:vector size="6" baseType="variant">
      <vt:variant>
        <vt:lpstr>已用的字体</vt:lpstr>
      </vt:variant>
      <vt:variant>
        <vt:i4>3</vt:i4>
      </vt:variant>
      <vt:variant>
        <vt:lpstr>主题</vt:lpstr>
      </vt:variant>
      <vt:variant>
        <vt:i4>2</vt:i4>
      </vt:variant>
      <vt:variant>
        <vt:lpstr>幻灯片标题</vt:lpstr>
      </vt:variant>
      <vt:variant>
        <vt:i4>3</vt:i4>
      </vt:variant>
    </vt:vector>
  </HeadingPairs>
  <TitlesOfParts>
    <vt:vector size="8" baseType="lpstr">
      <vt:lpstr>Noto Sans SC</vt:lpstr>
      <vt:lpstr>Arial</vt:lpstr>
      <vt:lpstr>Noto Sans Batak</vt:lpstr>
      <vt:lpstr>Office 主题​​</vt:lpstr>
      <vt:lpstr>默认主题</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LI Yingdong</cp:lastModifiedBy>
  <cp:revision>6</cp:revision>
  <dcterms:created xsi:type="dcterms:W3CDTF">2026-03-18T12:15:36Z</dcterms:created>
  <dcterms:modified xsi:type="dcterms:W3CDTF">2026-03-31T17:30:43Z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132937552A5D6EF76897BA691B1F8F4C_43</vt:lpwstr>
  </property>
  <property fmtid="{D5CDD505-2E9C-101B-9397-08002B2CF9AE}" pid="3" name="KSOProductBuildVer">
    <vt:lpwstr>2052-7.2.2.8955</vt:lpwstr>
  </property>
</Properties>
</file>